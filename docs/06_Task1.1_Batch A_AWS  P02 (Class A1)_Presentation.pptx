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410" r:id="rId4"/>
  </p:sldMasterIdLst>
  <p:notesMasterIdLst>
    <p:notesMasterId r:id="rId22"/>
  </p:notesMasterIdLst>
  <p:handoutMasterIdLst>
    <p:handoutMasterId r:id="rId23"/>
  </p:handoutMasterIdLst>
  <p:sldIdLst>
    <p:sldId id="478" r:id="rId5"/>
    <p:sldId id="2147483269" r:id="rId6"/>
    <p:sldId id="2147483265" r:id="rId7"/>
    <p:sldId id="2147483253" r:id="rId8"/>
    <p:sldId id="2147483270" r:id="rId9"/>
    <p:sldId id="2147483271" r:id="rId10"/>
    <p:sldId id="2147483272" r:id="rId11"/>
    <p:sldId id="2147483273" r:id="rId12"/>
    <p:sldId id="2147483274" r:id="rId13"/>
    <p:sldId id="2147483275" r:id="rId14"/>
    <p:sldId id="2147483266" r:id="rId15"/>
    <p:sldId id="2147483264" r:id="rId16"/>
    <p:sldId id="2147483256" r:id="rId17"/>
    <p:sldId id="2147483263" r:id="rId18"/>
    <p:sldId id="2147483268" r:id="rId19"/>
    <p:sldId id="2147483267" r:id="rId20"/>
    <p:sldId id="2147483276" r:id="rId21"/>
  </p:sldIdLst>
  <p:sldSz cx="12192000" cy="6858000"/>
  <p:notesSz cx="7315200" cy="96012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_Slides" id="{BAC1763D-52FA-4D99-B74A-09978868D1DF}">
          <p14:sldIdLst>
            <p14:sldId id="478"/>
            <p14:sldId id="2147483269"/>
          </p14:sldIdLst>
        </p14:section>
        <p14:section name="Problem-Statement" id="{A464F28C-687D-4D79-95C8-47E500B011C2}">
          <p14:sldIdLst>
            <p14:sldId id="2147483265"/>
            <p14:sldId id="2147483253"/>
          </p14:sldIdLst>
        </p14:section>
        <p14:section name="Task 1.1" id="{A38AAB2E-D2D4-482A-9C3E-36F74C112148}">
          <p14:sldIdLst>
            <p14:sldId id="2147483270"/>
            <p14:sldId id="2147483271"/>
            <p14:sldId id="2147483272"/>
            <p14:sldId id="2147483273"/>
            <p14:sldId id="2147483274"/>
            <p14:sldId id="2147483275"/>
          </p14:sldIdLst>
        </p14:section>
        <p14:section name="Task 1.2." id="{9C908761-07E3-45AD-9EA9-1FDA7DD7DD76}">
          <p14:sldIdLst>
            <p14:sldId id="2147483266"/>
            <p14:sldId id="2147483264"/>
            <p14:sldId id="2147483256"/>
            <p14:sldId id="2147483263"/>
            <p14:sldId id="2147483268"/>
            <p14:sldId id="2147483267"/>
            <p14:sldId id="2147483276"/>
          </p14:sldIdLst>
        </p14:section>
      </p14:section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6E4"/>
    <a:srgbClr val="F2F5E3"/>
    <a:srgbClr val="63666A"/>
    <a:srgbClr val="75787B"/>
    <a:srgbClr val="97999B"/>
    <a:srgbClr val="A7A8AA"/>
    <a:srgbClr val="BBBCBC"/>
    <a:srgbClr val="D0D0CE"/>
    <a:srgbClr val="007CB0"/>
    <a:srgbClr val="041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AD5EAC-7A41-4574-88AE-36EB097F94C1}" v="2916" dt="2026-08-06T13:11:18.247"/>
    <p1510:client id="{6B06F6A0-A6D3-A9B9-7CC9-B29C118D0766}" v="181" dt="2026-08-06T12:48:07.925"/>
    <p1510:client id="{6BD723B0-447B-25F5-53BB-BBD1B4DAFAC9}" v="324" dt="2026-08-06T12:47:54.305"/>
    <p1510:client id="{937971A3-B60D-4959-8FB5-76A9BF0982AE}" v="734" dt="2026-08-06T11:15:22.860"/>
    <p1510:client id="{C3FAAD93-A3C5-4CB5-88E8-A6A78927FC1F}" v="22" dt="2026-08-06T07:24:57.411"/>
    <p1510:client id="{C57B88A1-0D40-4D86-01C1-3B1C76870313}" v="1" dt="2026-08-06T03:03:31.267"/>
    <p1510:client id="{CD8F3FAB-B538-D9EF-E799-788B9A4196D0}" v="2" dt="2026-08-06T10:19:36.254"/>
    <p1510:client id="{ECDE8ED1-6E71-4561-9724-1FF91E29312A}" v="299" dt="2026-08-06T05:42:01.293"/>
    <p1510:client id="{FD0A0961-D22E-BA92-2EDC-F17047970C24}" v="3" dt="2026-08-06T05:45:10.6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8978" autoAdjust="0"/>
  </p:normalViewPr>
  <p:slideViewPr>
    <p:cSldViewPr snapToGrid="0">
      <p:cViewPr>
        <p:scale>
          <a:sx n="44" d="100"/>
          <a:sy n="44" d="100"/>
        </p:scale>
        <p:origin x="150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8/6/2026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77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96B1D-8A7C-7D47-1624-73B061AB6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9570D-A62D-F399-B208-D823A5356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BB0634-27B5-69E4-9BFA-12D820135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657ED-5EF5-DC14-EDA1-B48D08796A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17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ADF6B-E4CF-D670-483F-F13050A9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D3FD65-B3A5-1495-E11D-36DC6070C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76964-79C1-7C04-C36A-900CD30D7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388A8-DF4F-C005-D936-605EE81C3B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6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9CE65-D073-2C50-2EE1-B089C5CFB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BE403-CAA9-7A7A-32EB-1C7150B54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0DD7C-A2FF-331C-B6D1-C50F26A97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78D56-B25F-1A35-3009-BFB507C199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31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9AC09C-A277-C55C-D75C-B0B9079D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E7A5A-0FD3-AA09-4002-5DDED492E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C029C-702B-6E2E-9737-544A40DED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ED33B-5E55-937D-BC8A-B0D6E51481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106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9E6F1-FC0D-D713-5EDE-C6F77FE0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09D3A-6545-2095-57D1-13B19AD66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C02486-C4ED-B66A-ABCA-1BCF0DC13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400" dirty="0"/>
              <a:t>Here are some indicative types of analysis you can perform. Please note that this is not an exhaustive list, you may add more</a:t>
            </a:r>
            <a:endParaRPr lang="en-US" sz="1200" dirty="0"/>
          </a:p>
          <a:p>
            <a:pPr lvl="0"/>
            <a:r>
              <a:rPr lang="en-IN" sz="1400" dirty="0"/>
              <a:t>Come up with appropriate results  for the following:</a:t>
            </a:r>
            <a:endParaRPr lang="en-US" sz="1200" dirty="0"/>
          </a:p>
          <a:p>
            <a:pPr lvl="1"/>
            <a:r>
              <a:rPr lang="en-IN" sz="1400" dirty="0"/>
              <a:t>1. Analyse the policy features. Identify the pattern and figure out if there is any relation with the insurance claim.</a:t>
            </a:r>
            <a:endParaRPr lang="en-US" sz="1200" dirty="0"/>
          </a:p>
          <a:p>
            <a:pPr lvl="1"/>
            <a:r>
              <a:rPr lang="en-IN" sz="1400" dirty="0"/>
              <a:t>2. Is the dataset balanced? Are there duplicates in the data?</a:t>
            </a:r>
            <a:endParaRPr lang="en-US" sz="1200" dirty="0"/>
          </a:p>
          <a:p>
            <a:pPr lvl="1"/>
            <a:r>
              <a:rPr lang="en-IN" sz="1400" dirty="0"/>
              <a:t>3. Investigate the various car features and find out the important features that affects the insurance claim.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05E04-F642-1D6D-5D40-A9F43B0DBD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594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C013C-7B12-B461-7824-6C66272F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E569E6-3457-94A0-F928-2467925A6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9E2FD-66AC-0F4E-7ED6-797DB2028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400" dirty="0"/>
              <a:t>Here are some indicative types of analysis you can perform. Please note that this is not an exhaustive list, you may add more</a:t>
            </a:r>
            <a:endParaRPr lang="en-US" sz="1200" dirty="0"/>
          </a:p>
          <a:p>
            <a:pPr lvl="0"/>
            <a:r>
              <a:rPr lang="en-IN" sz="1400" dirty="0"/>
              <a:t>Come up with appropriate results  for the following:</a:t>
            </a:r>
            <a:endParaRPr lang="en-US" sz="1200" dirty="0"/>
          </a:p>
          <a:p>
            <a:pPr lvl="1"/>
            <a:r>
              <a:rPr lang="en-IN" sz="1400" dirty="0"/>
              <a:t>1. Analyse the policy features. Identify the pattern and figure out if there is any relation with the insurance claim.</a:t>
            </a:r>
            <a:endParaRPr lang="en-US" sz="1200" dirty="0"/>
          </a:p>
          <a:p>
            <a:pPr lvl="1"/>
            <a:r>
              <a:rPr lang="en-IN" sz="1400" dirty="0"/>
              <a:t>2. Is the dataset balanced? Are there duplicates in the data?</a:t>
            </a:r>
            <a:endParaRPr lang="en-US" sz="1200" dirty="0"/>
          </a:p>
          <a:p>
            <a:pPr lvl="1"/>
            <a:r>
              <a:rPr lang="en-IN" sz="1400" dirty="0"/>
              <a:t>3. Investigate the various car features and find out the important features that affects the insurance claim.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325F5-6837-15D5-E1E7-C61CDD6DB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977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04C7-2F26-FFF0-6CDD-A73C3F9E3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8575BB-94F2-37AF-04CF-B7EA856A1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81996-22F4-D3BE-0762-DA545CA6D9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400" dirty="0"/>
              <a:t>Here are some indicative types of analysis you can perform. Please note that this is not an exhaustive list, you may add more</a:t>
            </a:r>
            <a:endParaRPr lang="en-US" sz="1200" dirty="0"/>
          </a:p>
          <a:p>
            <a:pPr lvl="0"/>
            <a:r>
              <a:rPr lang="en-IN" sz="1400" dirty="0"/>
              <a:t>Come up with appropriate results  for the following:</a:t>
            </a:r>
            <a:endParaRPr lang="en-US" sz="1200" dirty="0"/>
          </a:p>
          <a:p>
            <a:pPr lvl="1"/>
            <a:r>
              <a:rPr lang="en-IN" sz="1400" dirty="0"/>
              <a:t>1. Analyse the policy features. Identify the pattern and figure out if there is any relation with the insurance claim.</a:t>
            </a:r>
            <a:endParaRPr lang="en-US" sz="1200" dirty="0"/>
          </a:p>
          <a:p>
            <a:pPr lvl="1"/>
            <a:r>
              <a:rPr lang="en-IN" sz="1400" dirty="0"/>
              <a:t>2. Is the dataset balanced? Are there duplicates in the data?</a:t>
            </a:r>
            <a:endParaRPr lang="en-US" sz="1200" dirty="0"/>
          </a:p>
          <a:p>
            <a:pPr lvl="1"/>
            <a:r>
              <a:rPr lang="en-IN" sz="1400" dirty="0"/>
              <a:t>3. Investigate the various car features and find out the important features that affects the insurance claim.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CFA31-ECC1-2B87-1855-5D1D1C10F9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34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E4A8F-6DC6-940E-30CA-28E0C27A4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B1069A-7EF2-168B-EAE0-C603CDC64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B9A56-4531-3F4C-3864-0BB29F76F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400" dirty="0"/>
              <a:t>Here are some indicative types of analysis you can perform. Please note that this is not an exhaustive list, you may add more</a:t>
            </a:r>
            <a:endParaRPr lang="en-US" sz="1200" dirty="0"/>
          </a:p>
          <a:p>
            <a:pPr lvl="0"/>
            <a:r>
              <a:rPr lang="en-IN" sz="1400" dirty="0"/>
              <a:t>Come up with appropriate results  for the following:</a:t>
            </a:r>
            <a:endParaRPr lang="en-US" sz="1200" dirty="0"/>
          </a:p>
          <a:p>
            <a:pPr lvl="1"/>
            <a:r>
              <a:rPr lang="en-IN" sz="1400" dirty="0"/>
              <a:t>1. Analyse the policy features. Identify the pattern and figure out if there is any relation with the insurance claim.</a:t>
            </a:r>
            <a:endParaRPr lang="en-US" sz="1200" dirty="0"/>
          </a:p>
          <a:p>
            <a:pPr lvl="1"/>
            <a:r>
              <a:rPr lang="en-IN" sz="1400" dirty="0"/>
              <a:t>2. Is the dataset balanced? Are there duplicates in the data?</a:t>
            </a:r>
            <a:endParaRPr lang="en-US" sz="1200" dirty="0"/>
          </a:p>
          <a:p>
            <a:pPr lvl="1"/>
            <a:r>
              <a:rPr lang="en-IN" sz="1400" dirty="0"/>
              <a:t>3. Investigate the various car features and find out the important features that affects the insurance claim.</a:t>
            </a:r>
            <a:endParaRPr lang="en-GB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1A987-6CF4-AD50-0F44-AF6679FB07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895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BB470-65F5-A135-79BA-0426DE6A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B99051-D954-9385-563B-FD874ABAE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94AE0-C650-87F4-839B-D59A61BE2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400" dirty="0"/>
              <a:t>Here are some indicative types of analysis you can perform. Please note that this is not an exhaustive list, you may add more</a:t>
            </a:r>
            <a:endParaRPr lang="en-US" sz="1200" dirty="0"/>
          </a:p>
          <a:p>
            <a:pPr lvl="0"/>
            <a:r>
              <a:rPr lang="en-IN" sz="1400" dirty="0"/>
              <a:t>Come up with appropriate results  for the following:</a:t>
            </a:r>
            <a:endParaRPr lang="en-US" sz="1200" dirty="0"/>
          </a:p>
          <a:p>
            <a:pPr lvl="1"/>
            <a:r>
              <a:rPr lang="en-IN" sz="1400" dirty="0"/>
              <a:t>1. Analyse the policy features. Identify the pattern and figure out if there is any relation with the insurance claim.</a:t>
            </a:r>
            <a:endParaRPr lang="en-US" sz="1200" dirty="0"/>
          </a:p>
          <a:p>
            <a:pPr lvl="1"/>
            <a:r>
              <a:rPr lang="en-IN" sz="1400" dirty="0"/>
              <a:t>2. Is the dataset balanced? Are there duplicates in the data?</a:t>
            </a:r>
            <a:endParaRPr lang="en-US" sz="1200" dirty="0"/>
          </a:p>
          <a:p>
            <a:pPr lvl="1"/>
            <a:r>
              <a:rPr lang="en-IN" sz="1400" dirty="0"/>
              <a:t>3. Investigate the various car features and find out the important features that affects the insurance claim.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ADC66-70F9-F4B7-4CEE-AB6EC87AB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011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AFD21-B649-1EC1-9F14-826BB3221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5E796-D63B-D739-3836-34591D2E0C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26129-3D2B-BD06-88F3-5538A403C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1AF9D-8820-292A-A327-6FCEB49914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811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FCAFA-9534-41FA-5587-B726916F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3C4E2-0E54-3A6B-7480-B5D44D32F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5A343-1E3C-4E10-D33A-5A67DCC758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400"/>
              <a:t>Here are some indicative types of analysis you can perform. Please note that this is not an exhaustive list, you may add more</a:t>
            </a:r>
            <a:endParaRPr lang="en-US" sz="1200"/>
          </a:p>
          <a:p>
            <a:pPr lvl="0"/>
            <a:r>
              <a:rPr lang="en-IN" sz="1400"/>
              <a:t>Come up with appropriate results  for the following:</a:t>
            </a:r>
            <a:endParaRPr lang="en-US" sz="1200"/>
          </a:p>
          <a:p>
            <a:pPr lvl="1"/>
            <a:r>
              <a:rPr lang="en-IN" sz="1400"/>
              <a:t>1. Analyse the policy features. Identify the pattern and figure out if there is any relation with the insurance claim.</a:t>
            </a:r>
            <a:endParaRPr lang="en-US" sz="1200"/>
          </a:p>
          <a:p>
            <a:pPr lvl="1"/>
            <a:r>
              <a:rPr lang="en-IN" sz="1400"/>
              <a:t>2. Is the dataset balanced? Are there duplicates in the data?</a:t>
            </a:r>
            <a:endParaRPr lang="en-US" sz="1200"/>
          </a:p>
          <a:p>
            <a:pPr lvl="1"/>
            <a:r>
              <a:rPr lang="en-IN" sz="1400"/>
              <a:t>3. Investigate the various car features and find out the important features that affects the insurance claim.</a:t>
            </a:r>
            <a:endParaRPr lang="en-US" sz="1200"/>
          </a:p>
          <a:p>
            <a:pPr marL="203200" indent="-203200">
              <a:spcBef>
                <a:spcPts val="600"/>
              </a:spcBef>
              <a:buSzPct val="100000"/>
              <a:buFont typeface="Arial"/>
              <a:buChar char="•"/>
            </a:pPr>
            <a:endParaRPr lang="en-US" sz="1400">
              <a:solidFill>
                <a:srgbClr val="313131"/>
              </a:solidFill>
            </a:endParaRPr>
          </a:p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FF5DB-C90D-0EC6-FCF5-A1404EF83F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0915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90AE6-9DCC-09D5-E9E8-C8DB64B4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DF61A1-20DA-2C9A-2536-210D0EE0F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3CD72-A45A-AE7B-6FC7-4A6C6319C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0F361-BF4A-9488-571C-6CA357480E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406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F37B9-5314-C2FA-7815-CFCECA25A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EAAFC-1027-0FFF-1978-DB933A5F8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0CA158-B0B5-F38C-40DD-E34ECE508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B9059-B532-6981-EB29-8C0506CA0E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69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7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7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7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7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7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7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7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7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7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7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7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7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7.emf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7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4" Type="http://schemas.openxmlformats.org/officeDocument/2006/relationships/image" Target="../media/image7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4" Type="http://schemas.openxmlformats.org/officeDocument/2006/relationships/image" Target="../media/image7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4" Type="http://schemas.openxmlformats.org/officeDocument/2006/relationships/image" Target="../media/image7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4" Type="http://schemas.openxmlformats.org/officeDocument/2006/relationships/image" Target="../media/image7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4" Type="http://schemas.openxmlformats.org/officeDocument/2006/relationships/image" Target="../media/image7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4" Type="http://schemas.openxmlformats.org/officeDocument/2006/relationships/image" Target="../media/image7.emf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4" Type="http://schemas.openxmlformats.org/officeDocument/2006/relationships/image" Target="../media/image7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7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2.xml"/><Relationship Id="rId4" Type="http://schemas.openxmlformats.org/officeDocument/2006/relationships/image" Target="../media/image7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3.xml"/><Relationship Id="rId4" Type="http://schemas.openxmlformats.org/officeDocument/2006/relationships/image" Target="../media/image7.emf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4.xml"/><Relationship Id="rId4" Type="http://schemas.openxmlformats.org/officeDocument/2006/relationships/image" Target="../media/image7.emf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Relationship Id="rId4" Type="http://schemas.openxmlformats.org/officeDocument/2006/relationships/image" Target="../media/image7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 with tagline logo lockup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FC5E484-EB26-0B50-B87A-799C320E83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6970A4B-B432-0F69-C312-D57C3DF06C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20489"/>
      </p:ext>
    </p:extLst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6FA620-B23E-0D62-CFAF-C7B1EE2DF1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14574"/>
      </p:ext>
    </p:extLst>
  </p:cSld>
  <p:clrMapOvr>
    <a:masterClrMapping/>
  </p:clrMapOvr>
  <p:transition>
    <p:fade/>
  </p:transition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 with tagline logo lockup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09F874-9939-7788-F7E8-1E902B5632A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315A3-99EF-FC55-DE24-58D79C1DD2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8768"/>
      </p:ext>
    </p:extLst>
  </p:cSld>
  <p:clrMapOvr>
    <a:masterClrMapping/>
  </p:clrMapOvr>
  <p:transition>
    <p:fade/>
  </p:transition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5BA9B-7574-E325-E1B5-3C428C7E4C1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38236"/>
      </p:ext>
    </p:extLst>
  </p:cSld>
  <p:clrMapOvr>
    <a:masterClrMapping/>
  </p:clrMapOvr>
  <p:transition>
    <p:fade/>
  </p:transition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 with tagline logo lockup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25E4CF2D-5153-8731-E935-35A7550513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692" y="-5031"/>
            <a:ext cx="2779773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202484"/>
      </p:ext>
    </p:extLst>
  </p:cSld>
  <p:clrMapOvr>
    <a:masterClrMapping/>
  </p:clrMapOvr>
  <p:transition>
    <p:fade/>
  </p:transition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3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99EDB7-3AF4-61F2-2C8B-4480E13D1A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310312"/>
      </p:ext>
    </p:extLst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 with tagline logo lockup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D417F91-0FD9-83FB-569A-B960E93D5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97FD6-A665-B2C8-96D2-2FEF2679AA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42251"/>
      </p:ext>
    </p:extLst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810F31-D882-A06D-7681-1B913A76EC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478856"/>
      </p:ext>
    </p:extLst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 with tagline logo lockup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F8A2FFF-A4B2-D935-C7DC-1DB5EDE4A71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90BD8-2D84-8179-A640-57E37904E6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43470"/>
      </p:ext>
    </p:extLst>
  </p:cSld>
  <p:clrMapOvr>
    <a:masterClrMapping/>
  </p:clrMapOvr>
  <p:transition>
    <p:fade/>
  </p:transition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BF294-5C31-F69F-426C-BF45033D4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800638"/>
      </p:ext>
    </p:extLst>
  </p:cSld>
  <p:clrMapOvr>
    <a:masterClrMapping/>
  </p:clrMapOvr>
  <p:transition>
    <p:fade/>
  </p:transition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13732D-80FD-BC4D-437C-614EF3BEBF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3617" y="-5031"/>
            <a:ext cx="2777922" cy="130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75618"/>
      </p:ext>
    </p:extLst>
  </p:cSld>
  <p:clrMapOvr>
    <a:masterClrMapping/>
  </p:clrMapOvr>
  <p:transition>
    <p:fade/>
  </p:transition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6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accent6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CF98FE-74F2-7A89-9D1B-2E3424F331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13323"/>
      </p:ext>
    </p:extLst>
  </p:cSld>
  <p:clrMapOvr>
    <a:masterClrMapping/>
  </p:clrMapOvr>
  <p:transition>
    <p:fade/>
  </p:transition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5186209"/>
            <a:ext cx="4490721" cy="89598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ts val="3200"/>
              </a:lnSpc>
              <a:defRPr sz="3200" b="0">
                <a:solidFill>
                  <a:schemeClr val="accent1"/>
                </a:solidFill>
                <a:latin typeface="Aptos" panose="020B0004020202020204" pitchFamily="34" charset="0"/>
                <a:ea typeface="Open Sans" panose="020B060603050402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400" b="1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</p:spTree>
    <p:extLst>
      <p:ext uri="{BB962C8B-B14F-4D97-AF65-F5344CB8AC3E}">
        <p14:creationId xmlns:p14="http://schemas.microsoft.com/office/powerpoint/2010/main" val="2125570879"/>
      </p:ext>
    </p:extLst>
  </p:cSld>
  <p:clrMapOvr>
    <a:masterClrMapping/>
  </p:clrMapOvr>
  <p:transition>
    <p:fade/>
  </p:transition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0612E835-F4A9-E28C-C385-D7BF39346F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Code">
            <a:extLst>
              <a:ext uri="{FF2B5EF4-FFF2-40B4-BE49-F238E27FC236}">
                <a16:creationId xmlns:a16="http://schemas.microsoft.com/office/drawing/2014/main" id="{731E6BB5-C9D1-E35B-D6D9-245F1063E86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B5B05F3-7BE5-74BC-C267-D563E5B2A301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2C802-4131-8DA8-7683-E68E2E309BA0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" name="CaseCode">
            <a:extLst>
              <a:ext uri="{FF2B5EF4-FFF2-40B4-BE49-F238E27FC236}">
                <a16:creationId xmlns:a16="http://schemas.microsoft.com/office/drawing/2014/main" id="{0A4EC9DF-8A5A-81C7-A2F0-1416E458E773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Copyright">
            <a:extLst>
              <a:ext uri="{FF2B5EF4-FFF2-40B4-BE49-F238E27FC236}">
                <a16:creationId xmlns:a16="http://schemas.microsoft.com/office/drawing/2014/main" id="{76A3C83B-1E93-24DD-B4CF-4F673E59352B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4CDE2B-37F4-6423-B520-C4665B2B512F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14247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add text</a:t>
            </a:r>
          </a:p>
        </p:txBody>
      </p:sp>
      <p:pic>
        <p:nvPicPr>
          <p:cNvPr id="3" name="Picture 2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BE3412DA-AF8A-F83F-A01C-B4141E94FD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49390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67FC27F4-B029-8F10-CF8E-13A946A025B5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89AEA1EB-B05E-844E-88AE-0B79DF479CC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97C4E0-E9D0-9FCD-AFF6-A164148A4809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959777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4371416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ADBA1BC3-DF0A-C7C2-54F8-FADB09EEDB7D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80879667-8E19-0A8A-570B-A31B8E1A0A23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651E4B-6F26-F51C-0F00-AA71F4B0CCCE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accent4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1626210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Code">
            <a:extLst>
              <a:ext uri="{FF2B5EF4-FFF2-40B4-BE49-F238E27FC236}">
                <a16:creationId xmlns:a16="http://schemas.microsoft.com/office/drawing/2014/main" id="{F684A669-26C5-90D5-704C-199677EB5DCB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7BB995-EE99-3880-DCE6-C93F71A128C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1CC79A-BB5E-1920-0382-D1E9D54533B4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bg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91041564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Code">
            <a:extLst>
              <a:ext uri="{FF2B5EF4-FFF2-40B4-BE49-F238E27FC236}">
                <a16:creationId xmlns:a16="http://schemas.microsoft.com/office/drawing/2014/main" id="{2FC75865-6F76-C54E-DF22-E2B4689596A8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4D8129D5-9039-E8B3-5F13-E4574BC308FD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CBBC4D-3C0B-94BF-1ABE-F74D334FD22C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2" name="CaseCode">
            <a:extLst>
              <a:ext uri="{FF2B5EF4-FFF2-40B4-BE49-F238E27FC236}">
                <a16:creationId xmlns:a16="http://schemas.microsoft.com/office/drawing/2014/main" id="{ED522F1A-76ED-9748-3E86-16A48ACAC575}"/>
              </a:ext>
            </a:extLst>
          </p:cNvPr>
          <p:cNvSpPr txBox="1"/>
          <p:nvPr userDrawn="1"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BCC36DE-11BE-ACD5-8C25-3380E547E1BC}"/>
              </a:ext>
            </a:extLst>
          </p:cNvPr>
          <p:cNvSpPr txBox="1"/>
          <p:nvPr userDrawn="1"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bg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A064D-8615-4934-CF57-1312C16D8F95}"/>
              </a:ext>
            </a:extLst>
          </p:cNvPr>
          <p:cNvSpPr txBox="1"/>
          <p:nvPr userDrawn="1"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tx1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tx1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95905"/>
      </p:ext>
    </p:extLst>
  </p:cSld>
  <p:clrMapOvr>
    <a:masterClrMapping/>
  </p:clrMapOvr>
  <p:transition>
    <p:fade/>
  </p:transition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Code">
            <a:extLst>
              <a:ext uri="{FF2B5EF4-FFF2-40B4-BE49-F238E27FC236}">
                <a16:creationId xmlns:a16="http://schemas.microsoft.com/office/drawing/2014/main" id="{1F8EA9CE-A4FD-7F07-8A19-61F161FECD5F}"/>
              </a:ext>
            </a:extLst>
          </p:cNvPr>
          <p:cNvSpPr txBox="1"/>
          <p:nvPr/>
        </p:nvSpPr>
        <p:spPr>
          <a:xfrm>
            <a:off x="6335184" y="6519672"/>
            <a:ext cx="489656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Presentation title</a:t>
            </a:r>
            <a:b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FB2FD2C-2339-18D3-FE74-70FF8DBE712E}"/>
              </a:ext>
            </a:extLst>
          </p:cNvPr>
          <p:cNvSpPr txBox="1"/>
          <p:nvPr/>
        </p:nvSpPr>
        <p:spPr>
          <a:xfrm>
            <a:off x="457200" y="6519672"/>
            <a:ext cx="535516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450"/>
              </a:spcBef>
              <a:buSzPct val="100000"/>
              <a:buFont typeface="Arial"/>
              <a:buNone/>
            </a:pPr>
            <a: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Member firms and DTTL: Insert appropriate copyright</a:t>
            </a:r>
            <a:b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</a:br>
            <a:r>
              <a:rPr lang="en-US" sz="800" noProof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t>[To edit, click View &gt; Slide Master &gt; Slide Master]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2674E4-36E3-6473-BA52-EF41006ED287}"/>
              </a:ext>
            </a:extLst>
          </p:cNvPr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chemeClr val="accent4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chemeClr val="accent4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629517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bg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070983779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>
                <a:solidFill>
                  <a:schemeClr val="tx1"/>
                </a:solidFill>
                <a:latin typeface="Aptos" panose="020B0004020202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74225893"/>
      </p:ext>
    </p:extLst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11191353"/>
      </p:ext>
    </p:extLst>
  </p:cSld>
  <p:clrMapOvr>
    <a:masterClrMapping/>
  </p:clrMapOvr>
  <p:transition>
    <p:fade/>
  </p:transition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03670467"/>
      </p:ext>
    </p:extLst>
  </p:cSld>
  <p:clrMapOvr>
    <a:masterClrMapping/>
  </p:clrMapOvr>
  <p:transition>
    <p:fade/>
  </p:transition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63DAA5C-077F-FE00-63CE-03BEF637C3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99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7824798"/>
      </p:ext>
    </p:extLst>
  </p:cSld>
  <p:clrMapOvr>
    <a:masterClrMapping/>
  </p:clrMapOvr>
  <p:transition>
    <p:fade/>
  </p:transition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DD490B8-B418-78D3-2E0B-461A61F706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12974177"/>
      </p:ext>
    </p:extLst>
  </p:cSld>
  <p:clrMapOvr>
    <a:masterClrMapping/>
  </p:clrMapOvr>
  <p:transition>
    <p:fade/>
  </p:transition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8B191C74-910B-0CFC-9067-143443C4A2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6551886"/>
      </p:ext>
    </p:extLst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B60B513-6C68-425A-86AC-3FC42F4B2B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92734165"/>
      </p:ext>
    </p:extLst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67D2A86E-3485-4064-F11B-592641772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96810A4-9AE7-5408-F486-24386EEDA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40467378"/>
      </p:ext>
    </p:extLst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F362A436-16E9-8D92-CE75-CF090274A9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281788"/>
      </p:ext>
    </p:extLst>
  </p:cSld>
  <p:clrMapOvr>
    <a:masterClrMapping/>
  </p:clrMapOvr>
  <p:transition>
    <p:fade/>
  </p:transition>
  <p:hf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9870"/>
            <a:ext cx="8566108" cy="2169796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sz="800" b="0"/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807C35-870E-BE5C-3063-D65F3CF32E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F6F65-0FAE-13C5-4935-4F5D23290C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567C3E-3181-DBCE-56F9-25416E469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50732A-3DE1-9BA2-E38D-3560C50CEF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24" y="-4221"/>
            <a:ext cx="2551173" cy="103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957544"/>
      </p:ext>
    </p:extLst>
  </p:cSld>
  <p:clrMapOvr>
    <a:masterClrMapping/>
  </p:clrMapOvr>
  <p:hf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8140349"/>
      </p:ext>
    </p:extLst>
  </p:cSld>
  <p:clrMapOvr>
    <a:masterClrMapping/>
  </p:clrMapOvr>
  <p:transition>
    <p:fade/>
  </p:transition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149632"/>
      </p:ext>
    </p:extLst>
  </p:cSld>
  <p:clrMapOvr>
    <a:masterClrMapping/>
  </p:clrMapOvr>
  <p:transition>
    <p:fade/>
  </p:transition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115815"/>
      </p:ext>
    </p:extLst>
  </p:cSld>
  <p:clrMapOvr>
    <a:masterClrMapping/>
  </p:clrMapOvr>
  <p:transition>
    <p:fade/>
  </p:transition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427996"/>
      </p:ext>
    </p:extLst>
  </p:cSld>
  <p:clrMapOvr>
    <a:masterClrMapping/>
  </p:clrMapOvr>
  <p:transition>
    <p:fade/>
  </p:transition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093857"/>
      </p:ext>
    </p:extLst>
  </p:cSld>
  <p:clrMapOvr>
    <a:masterClrMapping/>
  </p:clrMapOvr>
  <p:transition>
    <p:fade/>
  </p:transition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0630551"/>
      </p:ext>
    </p:extLst>
  </p:cSld>
  <p:clrMapOvr>
    <a:masterClrMapping/>
  </p:clrMapOvr>
  <p:transition>
    <p:fade/>
  </p:transition>
  <p:hf hd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91653"/>
      </p:ext>
    </p:extLst>
  </p:cSld>
  <p:clrMapOvr>
    <a:masterClrMapping/>
  </p:clrMapOvr>
  <p:transition>
    <p:fade/>
  </p:transition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914466"/>
      </p:ext>
    </p:extLst>
  </p:cSld>
  <p:clrMapOvr>
    <a:masterClrMapping/>
  </p:clrMapOvr>
  <p:transition>
    <p:fade/>
  </p:transition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BDCA0-170F-9CD6-736F-61D6DB7637DE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339171"/>
      </p:ext>
    </p:extLst>
  </p:cSld>
  <p:clrMapOvr>
    <a:masterClrMapping/>
  </p:clrMapOvr>
  <p:transition>
    <p:fade/>
  </p:transition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C8AFF7-A1A4-8B8F-9682-D1150A2584E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2568280"/>
      </p:ext>
    </p:extLst>
  </p:cSld>
  <p:clrMapOvr>
    <a:masterClrMapping/>
  </p:clrMapOvr>
  <p:transition>
    <p:fade/>
  </p:transition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727070"/>
      </p:ext>
    </p:extLst>
  </p:cSld>
  <p:clrMapOvr>
    <a:masterClrMapping/>
  </p:clrMapOvr>
  <p:transition>
    <p:fade/>
  </p:transition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/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/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/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/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9ADC3A-733E-B0C3-7E56-F3F1B58EF9C5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02337"/>
      </p:ext>
    </p:extLst>
  </p:cSld>
  <p:clrMapOvr>
    <a:masterClrMapping/>
  </p:clrMapOvr>
  <p:transition>
    <p:fade/>
  </p:transition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9BAB5-7E18-7CA4-E491-CFBBC15D414C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648513"/>
      </p:ext>
    </p:extLst>
  </p:cSld>
  <p:clrMapOvr>
    <a:masterClrMapping/>
  </p:clrMapOvr>
  <p:transition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56A78-3545-9D7B-9B1D-9AE4F55FC8F3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38E7C72-C010-DA66-DF7D-35A25DD79F9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208F306-D5E9-9F07-9D03-6822787DE5F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26C966-CA27-94D4-324B-5F76A1FC3EA0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867221"/>
      </p:ext>
    </p:extLst>
  </p:cSld>
  <p:clrMapOvr>
    <a:masterClrMapping/>
  </p:clrMapOvr>
  <p:transition>
    <p:fade/>
  </p:transition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484570F-AB85-4401-FAD0-3C8AAB53FC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8893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84570F-AB85-4401-FAD0-3C8AAB53FC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9842" y="1880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56583" y="4256213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4FC28274-B484-ADCB-6FAD-CD816034B79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104052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latin typeface="Aptos" panose="020B0004020202020204" pitchFamily="34" charset="0"/>
              </a:defRPr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89188" y="1880213"/>
            <a:ext cx="38461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4052" y="4256213"/>
            <a:ext cx="384962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86933" y="4256213"/>
            <a:ext cx="3848355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 b="0"/>
            </a:lvl3pPr>
            <a:lvl4pPr marL="548640" indent="-182880">
              <a:defRPr b="0"/>
            </a:lvl4pPr>
            <a:lvl5pPr marL="731520">
              <a:defRPr b="0"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7200" y="4044901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3C72F6-78BA-1C5C-0E41-3928DBA9B4D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779F49E-3102-B8AE-3214-0E5933FEBBA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36BED1F-8F10-CF1B-922C-6719E90171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4E6B2-A34D-D64D-6B7B-7A40DF2A7243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086694"/>
      </p:ext>
    </p:extLst>
  </p:cSld>
  <p:clrMapOvr>
    <a:masterClrMapping/>
  </p:clrMapOvr>
  <p:transition>
    <p:fade/>
  </p:transition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/>
            </a:lvl1pPr>
            <a:lvl2pPr>
              <a:spcBef>
                <a:spcPts val="200"/>
              </a:spcBef>
              <a:spcAft>
                <a:spcPts val="200"/>
              </a:spcAft>
              <a:defRPr sz="1200" b="0"/>
            </a:lvl2pPr>
            <a:lvl3pPr marL="365760">
              <a:defRPr/>
            </a:lvl3pPr>
            <a:lvl4pPr marL="548640" indent="-182880">
              <a:defRPr/>
            </a:lvl4pPr>
            <a:lvl5pPr marL="731520">
              <a:defRPr/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/>
          <a:lstStyle/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2385F7-0E68-136E-49BA-D113551EF594}"/>
              </a:ext>
            </a:extLst>
          </p:cNvPr>
          <p:cNvSpPr/>
          <p:nvPr userDrawn="1"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64808"/>
      </p:ext>
    </p:extLst>
  </p:cSld>
  <p:clrMapOvr>
    <a:masterClrMapping/>
  </p:clrMapOvr>
  <p:transition>
    <p:fade/>
  </p:transition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251391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8D36622-3315-0885-4F7E-8CCDE0C2BA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tx2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7588444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2F2C4463-3F55-0B57-ECFE-555C0A1782B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62140600"/>
      </p:ext>
    </p:extLst>
  </p:cSld>
  <p:clrMapOvr>
    <a:masterClrMapping/>
  </p:clrMapOvr>
  <p:transition>
    <p:fade/>
  </p:transition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DF503BF-FE6C-E555-3A41-CFFD64147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5469370"/>
      </p:ext>
    </p:extLst>
  </p:cSld>
  <p:clrMapOvr>
    <a:masterClrMapping/>
  </p:clrMapOvr>
  <p:transition>
    <p:fade/>
  </p:transition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6F14D54C-54B5-CC50-7E64-122407456A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8649007"/>
      </p:ext>
    </p:extLst>
  </p:cSld>
  <p:clrMapOvr>
    <a:masterClrMapping/>
  </p:clrMapOvr>
  <p:transition>
    <p:fade/>
  </p:transition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0AF0D7E5-2029-3151-0D44-92D925760B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1203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F0D7E5-2029-3151-0D44-92D925760B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86DEB7A-2D80-0936-9E40-8E28EEB0EB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67F64B02-86CD-B81B-86B2-05391A92AC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9EE392B-1FEE-21B0-181D-C9962A3FE8E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2232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C71861D-BC3F-2DAD-BA49-86947F937CC5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18744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D62757C-35E9-6C73-1638-E2D99D8D412E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9052560" y="1682496"/>
            <a:ext cx="2685018" cy="468172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6482776"/>
      </p:ext>
    </p:extLst>
  </p:cSld>
  <p:clrMapOvr>
    <a:masterClrMapping/>
  </p:clrMapOvr>
  <p:transition>
    <p:fade/>
  </p:transition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E4C1F1A-C2FD-0E2E-2497-1640B8CFB7F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3992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4C1F1A-C2FD-0E2E-2497-1640B8CFB7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0D8F34B8-DFAD-6DD7-E1A1-4572B7969DD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57200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90D3C277-40A7-31AF-87D8-848A84CDC70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5352" y="1880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6B0BFB5D-1E54-FF08-195B-949B6341E16B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57200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Picture Placeholder 11">
            <a:extLst>
              <a:ext uri="{FF2B5EF4-FFF2-40B4-BE49-F238E27FC236}">
                <a16:creationId xmlns:a16="http://schemas.microsoft.com/office/drawing/2014/main" id="{B70C4541-64E0-0D36-F531-9180AEBAADA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45352" y="4256213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D3FBE01-C9A4-F88D-C153-2816D6207A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98040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004DE48-1AC3-4F21-0968-B3890904434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00744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684A23D9-9F8C-5A70-1B87-0DD004B8D9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98040" y="4256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1455C2-E21F-06D2-DADD-7FD7A0C6A036}"/>
              </a:ext>
            </a:extLst>
          </p:cNvPr>
          <p:cNvSpPr/>
          <p:nvPr/>
        </p:nvSpPr>
        <p:spPr>
          <a:xfrm>
            <a:off x="6254496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B116F3-3D63-C235-3E40-D7EA6B934CF2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6C436-A721-2D60-1AEA-13F0DD3A9223}"/>
              </a:ext>
            </a:extLst>
          </p:cNvPr>
          <p:cNvSpPr/>
          <p:nvPr/>
        </p:nvSpPr>
        <p:spPr>
          <a:xfrm>
            <a:off x="6245352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2ED75E-FA16-E5BA-B5F1-A58E06F1A408}"/>
              </a:ext>
            </a:extLst>
          </p:cNvPr>
          <p:cNvSpPr/>
          <p:nvPr/>
        </p:nvSpPr>
        <p:spPr>
          <a:xfrm>
            <a:off x="450000" y="4044901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98DB5DD3-41BE-3F94-9CAF-1C6AF307A2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00744" y="1880213"/>
            <a:ext cx="3852000" cy="194400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sz="1200" b="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5760">
              <a:defRPr>
                <a:solidFill>
                  <a:schemeClr val="bg1"/>
                </a:solidFill>
              </a:defRPr>
            </a:lvl3pPr>
            <a:lvl4pPr marL="548640" indent="-182880">
              <a:defRPr>
                <a:solidFill>
                  <a:schemeClr val="bg1"/>
                </a:solidFill>
              </a:defRPr>
            </a:lvl4pPr>
            <a:lvl5pPr marL="731520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685A54B-009E-7531-D093-9C1E6AA6E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09F11E-B446-F54E-C136-D44C717D20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31862531"/>
      </p:ext>
    </p:extLst>
  </p:cSld>
  <p:clrMapOvr>
    <a:masterClrMapping/>
  </p:clrMapOvr>
  <p:transition>
    <p:fade/>
  </p:transition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8D7B41BD-8ED5-299A-47F6-EACF78AFCB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6840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sz="1800" b="0" dirty="0">
                <a:solidFill>
                  <a:srgbClr val="D0D0CE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sz="1200">
                <a:solidFill>
                  <a:schemeClr val="bg1"/>
                </a:solidFill>
                <a:latin typeface="Aptos" panose="020B0004020202020204" pitchFamily="34" charset="0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sz="1200" baseline="0">
                <a:solidFill>
                  <a:schemeClr val="bg1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340831"/>
      </p:ext>
    </p:extLst>
  </p:cSld>
  <p:clrMapOvr>
    <a:masterClrMapping/>
  </p:clrMapOvr>
  <p:transition>
    <p:fade/>
  </p:transition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4187952"/>
            <a:ext cx="8528936" cy="21697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DCC45-3C19-3948-0E04-7130E1BB7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165AAD-CB29-40C9-DDB6-76BBE0FFB5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13067E-6C35-538A-0F4D-694ED96021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730800F-FAB6-D47D-41C2-29C4D5E9294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924" y="-4221"/>
            <a:ext cx="2551173" cy="103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35614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1.emf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ags" Target="../tags/tag2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59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0" imgW="270" imgH="270" progId="TCLayout.ActiveDocument.1">
                  <p:embed/>
                </p:oleObj>
              </mc:Choice>
              <mc:Fallback>
                <p:oleObj name="think-cell Slide" r:id="rId60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26826" y="6519672"/>
            <a:ext cx="3079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800" noProof="0" smtClean="0">
                <a:solidFill>
                  <a:srgbClr val="75787B"/>
                </a:solidFill>
                <a:latin typeface="Aptos" panose="020B0004020202020204" pitchFamily="34" charset="0"/>
                <a:cs typeface="Calibri" panose="020F0502020204030204" pitchFamily="34" charset="0"/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800" noProof="0">
              <a:solidFill>
                <a:srgbClr val="75787B"/>
              </a:solidFill>
              <a:latin typeface="Aptos" panose="020B000402020202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1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11" r:id="rId1"/>
    <p:sldLayoutId id="2147484412" r:id="rId2"/>
    <p:sldLayoutId id="2147484413" r:id="rId3"/>
    <p:sldLayoutId id="2147484414" r:id="rId4"/>
    <p:sldLayoutId id="2147484415" r:id="rId5"/>
    <p:sldLayoutId id="2147484416" r:id="rId6"/>
    <p:sldLayoutId id="2147484417" r:id="rId7"/>
    <p:sldLayoutId id="2147484418" r:id="rId8"/>
    <p:sldLayoutId id="2147484419" r:id="rId9"/>
    <p:sldLayoutId id="2147484420" r:id="rId10"/>
    <p:sldLayoutId id="2147484421" r:id="rId11"/>
    <p:sldLayoutId id="2147484422" r:id="rId12"/>
    <p:sldLayoutId id="2147484423" r:id="rId13"/>
    <p:sldLayoutId id="2147484424" r:id="rId14"/>
    <p:sldLayoutId id="2147484425" r:id="rId15"/>
    <p:sldLayoutId id="2147484426" r:id="rId16"/>
    <p:sldLayoutId id="2147484427" r:id="rId17"/>
    <p:sldLayoutId id="2147484428" r:id="rId18"/>
    <p:sldLayoutId id="2147484429" r:id="rId19"/>
    <p:sldLayoutId id="2147484430" r:id="rId20"/>
    <p:sldLayoutId id="2147484431" r:id="rId21"/>
    <p:sldLayoutId id="2147484432" r:id="rId22"/>
    <p:sldLayoutId id="2147484433" r:id="rId23"/>
    <p:sldLayoutId id="2147484434" r:id="rId24"/>
    <p:sldLayoutId id="2147484435" r:id="rId25"/>
    <p:sldLayoutId id="2147484436" r:id="rId26"/>
    <p:sldLayoutId id="2147484437" r:id="rId27"/>
    <p:sldLayoutId id="2147484438" r:id="rId28"/>
    <p:sldLayoutId id="2147484439" r:id="rId29"/>
    <p:sldLayoutId id="2147484440" r:id="rId30"/>
    <p:sldLayoutId id="2147484441" r:id="rId31"/>
    <p:sldLayoutId id="2147484442" r:id="rId32"/>
    <p:sldLayoutId id="2147484443" r:id="rId33"/>
    <p:sldLayoutId id="2147484444" r:id="rId34"/>
    <p:sldLayoutId id="2147484445" r:id="rId35"/>
    <p:sldLayoutId id="2147484446" r:id="rId36"/>
    <p:sldLayoutId id="2147484447" r:id="rId37"/>
    <p:sldLayoutId id="2147484448" r:id="rId38"/>
    <p:sldLayoutId id="2147484449" r:id="rId39"/>
    <p:sldLayoutId id="2147484450" r:id="rId40"/>
    <p:sldLayoutId id="2147484460" r:id="rId41"/>
    <p:sldLayoutId id="2147484461" r:id="rId42"/>
    <p:sldLayoutId id="2147484462" r:id="rId43"/>
    <p:sldLayoutId id="2147484463" r:id="rId44"/>
    <p:sldLayoutId id="2147484464" r:id="rId45"/>
    <p:sldLayoutId id="2147484465" r:id="rId46"/>
    <p:sldLayoutId id="2147484466" r:id="rId47"/>
    <p:sldLayoutId id="2147484467" r:id="rId48"/>
    <p:sldLayoutId id="2147484451" r:id="rId49"/>
    <p:sldLayoutId id="2147484452" r:id="rId50"/>
    <p:sldLayoutId id="2147484453" r:id="rId51"/>
    <p:sldLayoutId id="2147484454" r:id="rId52"/>
    <p:sldLayoutId id="2147484455" r:id="rId53"/>
    <p:sldLayoutId id="2147484456" r:id="rId54"/>
    <p:sldLayoutId id="2147484457" r:id="rId55"/>
    <p:sldLayoutId id="2147484458" r:id="rId56"/>
    <p:sldLayoutId id="2147484459" r:id="rId57"/>
  </p:sldLayoutIdLst>
  <p:transition>
    <p:fade/>
  </p:transition>
  <p:hf hdr="0" dt="0"/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Aptos" panose="020B0004020202020204" pitchFamily="34" charset="0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0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Aptos" panose="020B0004020202020204" pitchFamily="34" charset="0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0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5" pos="3936" userDrawn="1">
          <p15:clr>
            <a:srgbClr val="F26B43"/>
          </p15:clr>
        </p15:guide>
        <p15:guide id="96" orient="horz" pos="4008" userDrawn="1">
          <p15:clr>
            <a:srgbClr val="F26B43"/>
          </p15:clr>
        </p15:guide>
        <p15:guide id="97" orient="horz" pos="4104" userDrawn="1">
          <p15:clr>
            <a:srgbClr val="F26B43"/>
          </p15:clr>
        </p15:guide>
        <p15:guide id="98" orient="horz" pos="1056" userDrawn="1">
          <p15:clr>
            <a:srgbClr val="F26B43"/>
          </p15:clr>
        </p15:guide>
        <p15:guide id="99" pos="3840" userDrawn="1">
          <p15:clr>
            <a:srgbClr val="F26B43"/>
          </p15:clr>
        </p15:guide>
        <p15:guide id="100" pos="7392" userDrawn="1">
          <p15:clr>
            <a:srgbClr val="F26B43"/>
          </p15:clr>
        </p15:guide>
        <p15:guide id="101" orient="horz" pos="216" userDrawn="1">
          <p15:clr>
            <a:srgbClr val="F26B43"/>
          </p15:clr>
        </p15:guide>
        <p15:guide id="102" orient="horz" pos="432" userDrawn="1">
          <p15:clr>
            <a:srgbClr val="F26B43"/>
          </p15:clr>
        </p15:guide>
        <p15:guide id="103" pos="288" userDrawn="1">
          <p15:clr>
            <a:srgbClr val="F26B43"/>
          </p15:clr>
        </p15:guide>
        <p15:guide id="104" pos="374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pikumar6@deloitte.com" TargetMode="External"/><Relationship Id="rId7" Type="http://schemas.openxmlformats.org/officeDocument/2006/relationships/hyperlink" Target="mailto:vnithyasaisandarshin@deloitte.co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hyperlink" Target="mailto:vibanala@deloitte.com" TargetMode="External"/><Relationship Id="rId5" Type="http://schemas.openxmlformats.org/officeDocument/2006/relationships/hyperlink" Target="mailto:asmaharana@deloitte.com" TargetMode="External"/><Relationship Id="rId4" Type="http://schemas.openxmlformats.org/officeDocument/2006/relationships/hyperlink" Target="mailto:mgurjar@deloitt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A2CB853B-B192-8534-E2CC-A23AE2387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369" y="1420046"/>
            <a:ext cx="7069117" cy="5207000"/>
          </a:xfrm>
        </p:spPr>
        <p:txBody>
          <a:bodyPr anchor="ctr"/>
          <a:lstStyle/>
          <a:p>
            <a:r>
              <a:rPr lang="en-US" sz="2700" b="1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Project : Insurance Industry</a:t>
            </a:r>
            <a:br>
              <a:rPr lang="en-US" sz="2700" b="1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</a:br>
            <a:br>
              <a:rPr lang="en-US" sz="2700" b="1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</a:br>
            <a:r>
              <a:rPr lang="en-US" sz="2700" b="1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Batch Name : Batch A_AWS | P02 (Class: A1)</a:t>
            </a:r>
            <a:br>
              <a:rPr lang="en-US" sz="2700" b="1" dirty="0">
                <a:latin typeface="+mj-lt"/>
              </a:rPr>
            </a:br>
            <a:br>
              <a:rPr lang="en-US" sz="2700" b="1" dirty="0">
                <a:latin typeface="+mj-lt"/>
                <a:ea typeface="Open Sans"/>
                <a:cs typeface="Calibri Light"/>
              </a:rPr>
            </a:br>
            <a:r>
              <a:rPr lang="en-US" sz="2700" b="1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Checkpoint 1 Presentation</a:t>
            </a:r>
            <a:br>
              <a:rPr lang="en-US" sz="2700" b="1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</a:br>
            <a:br>
              <a:rPr lang="en-US" sz="2700" b="1" dirty="0">
                <a:latin typeface="+mj-lt"/>
                <a:ea typeface="Open Sans"/>
                <a:cs typeface="Calibri Light"/>
              </a:rPr>
            </a:br>
            <a: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Group Members :</a:t>
            </a:r>
            <a:b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</a:br>
            <a: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 </a:t>
            </a:r>
            <a:b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</a:br>
            <a: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1. Piyush Kumar</a:t>
            </a:r>
            <a:b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</a:br>
            <a: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2. </a:t>
            </a:r>
            <a:r>
              <a:rPr lang="en-US" sz="2700" dirty="0" err="1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Muthres</a:t>
            </a:r>
            <a: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 Gurjar</a:t>
            </a:r>
            <a:b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</a:br>
            <a: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3. Ashutosh Maharana</a:t>
            </a:r>
            <a:b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</a:br>
            <a: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4. </a:t>
            </a:r>
            <a:r>
              <a:rPr lang="en-US" sz="2700" dirty="0" err="1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Banala</a:t>
            </a:r>
            <a: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 Viswa Sahith</a:t>
            </a:r>
            <a:b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</a:br>
            <a: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5. Nithya Sai </a:t>
            </a:r>
            <a:r>
              <a:rPr lang="en-US" sz="2700" dirty="0" err="1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Sandarshini</a:t>
            </a:r>
            <a:r>
              <a:rPr lang="en-US" sz="2700" dirty="0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 </a:t>
            </a:r>
            <a:r>
              <a:rPr lang="en-US" sz="2700" dirty="0" err="1">
                <a:solidFill>
                  <a:schemeClr val="bg1"/>
                </a:solidFill>
                <a:latin typeface="+mj-lt"/>
                <a:ea typeface="Open Sans"/>
                <a:cs typeface="Calibri Light"/>
              </a:rPr>
              <a:t>Veerla</a:t>
            </a:r>
            <a:endParaRPr lang="en-US" sz="27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4" name="Picture Placeholder 13" descr="A green and white swirly object&#10;&#10;AI-generated content may be incorrect.">
            <a:extLst>
              <a:ext uri="{FF2B5EF4-FFF2-40B4-BE49-F238E27FC236}">
                <a16:creationId xmlns:a16="http://schemas.microsoft.com/office/drawing/2014/main" id="{27A95F02-8230-208A-3ABF-608B837191D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1111" r="1111"/>
          <a:stretch/>
        </p:blipFill>
        <p:spPr>
          <a:xfrm>
            <a:off x="6985000" y="677268"/>
            <a:ext cx="5207000" cy="5207000"/>
          </a:xfrm>
        </p:spPr>
      </p:pic>
    </p:spTree>
    <p:extLst>
      <p:ext uri="{BB962C8B-B14F-4D97-AF65-F5344CB8AC3E}">
        <p14:creationId xmlns:p14="http://schemas.microsoft.com/office/powerpoint/2010/main" val="352743284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7B8BF-90DE-4741-D7D6-AF3EE6239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A12DAE-8EB9-818F-ED5D-BE447000B853}"/>
              </a:ext>
            </a:extLst>
          </p:cNvPr>
          <p:cNvSpPr txBox="1"/>
          <p:nvPr/>
        </p:nvSpPr>
        <p:spPr>
          <a:xfrm>
            <a:off x="629264" y="504360"/>
            <a:ext cx="11562736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313131"/>
                </a:solidFill>
                <a:latin typeface="+mj-lt"/>
                <a:ea typeface="+mn-lt"/>
                <a:cs typeface="Aptos Serif"/>
              </a:rPr>
              <a:t>Agenda</a:t>
            </a:r>
            <a:endParaRPr lang="en-US" sz="3200" b="1" dirty="0">
              <a:solidFill>
                <a:srgbClr val="313131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7B2CF9-5807-6189-7364-08626C5B2D4B}"/>
              </a:ext>
            </a:extLst>
          </p:cNvPr>
          <p:cNvSpPr txBox="1"/>
          <p:nvPr/>
        </p:nvSpPr>
        <p:spPr>
          <a:xfrm>
            <a:off x="755065" y="1170862"/>
            <a:ext cx="10681869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SzPct val="100000"/>
              <a:buFont typeface="+mj-lt"/>
              <a:buAutoNum type="arabicPeriod"/>
            </a:pPr>
            <a:r>
              <a:rPr lang="en-US" sz="2500" dirty="0">
                <a:solidFill>
                  <a:srgbClr val="313131"/>
                </a:solidFill>
                <a:latin typeface="+mj-lt"/>
                <a:ea typeface="+mn-lt"/>
                <a:cs typeface="Aptos Serif"/>
              </a:rPr>
              <a:t>Overview of Problem Statements</a:t>
            </a:r>
          </a:p>
          <a:p>
            <a:pPr marL="971550" lvl="1" indent="-514350">
              <a:buSzPct val="100000"/>
              <a:buFont typeface="+mj-lt"/>
              <a:buAutoNum type="arabicPeriod"/>
            </a:pPr>
            <a:r>
              <a:rPr lang="en-US" sz="2500" dirty="0">
                <a:solidFill>
                  <a:srgbClr val="313131"/>
                </a:solidFill>
                <a:latin typeface="+mj-lt"/>
                <a:ea typeface="+mn-lt"/>
                <a:cs typeface="Aptos Serif"/>
              </a:rPr>
              <a:t>Business Problem</a:t>
            </a:r>
          </a:p>
          <a:p>
            <a:pPr marL="971550" lvl="1" indent="-514350">
              <a:buSzPct val="100000"/>
              <a:buFont typeface="+mj-lt"/>
              <a:buAutoNum type="arabicPeriod"/>
            </a:pPr>
            <a:r>
              <a:rPr lang="en-US" sz="2500" dirty="0">
                <a:solidFill>
                  <a:srgbClr val="313131"/>
                </a:solidFill>
                <a:latin typeface="+mj-lt"/>
                <a:ea typeface="+mn-lt"/>
                <a:cs typeface="Aptos Serif"/>
              </a:rPr>
              <a:t>Objective of Checkpoint 1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>
                <a:solidFill>
                  <a:srgbClr val="313131"/>
                </a:solidFill>
                <a:latin typeface="+mj-lt"/>
                <a:ea typeface="+mn-lt"/>
                <a:cs typeface="Aptos Serif"/>
              </a:rPr>
              <a:t>Task 1.1. Data Analysis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Dataset Overview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Dataset Balancing &amp; Duplicates Analysis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Pearson Correlation Analysis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Spearman Correlation Analysis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Claim Rate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500" dirty="0">
                <a:solidFill>
                  <a:srgbClr val="313131"/>
                </a:solidFill>
                <a:latin typeface="+mj-lt"/>
                <a:ea typeface="+mn-lt"/>
                <a:cs typeface="Aptos Serif"/>
              </a:rPr>
              <a:t>Task 1.2. </a:t>
            </a:r>
            <a:r>
              <a:rPr lang="en-US" sz="2500" dirty="0">
                <a:solidFill>
                  <a:srgbClr val="313131"/>
                </a:solidFill>
                <a:ea typeface="+mn-lt"/>
                <a:cs typeface="Aptos Serif"/>
              </a:rPr>
              <a:t>ER Diagram and Oracle Database Design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/>
              <a:t>E-R Diagram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400" dirty="0">
                <a:cs typeface="Calibri Light"/>
              </a:rPr>
              <a:t>Characteristics</a:t>
            </a:r>
            <a:r>
              <a:rPr lang="en-US" sz="2400" dirty="0">
                <a:solidFill>
                  <a:srgbClr val="313131"/>
                </a:solidFill>
              </a:rPr>
              <a:t> of Relations</a:t>
            </a:r>
            <a:endParaRPr lang="en-US" sz="2500" dirty="0">
              <a:solidFill>
                <a:srgbClr val="313131"/>
              </a:solidFill>
              <a:ea typeface="+mn-lt"/>
              <a:cs typeface="Aptos Serif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500" dirty="0">
                <a:solidFill>
                  <a:srgbClr val="313131"/>
                </a:solidFill>
                <a:ea typeface="+mn-lt"/>
                <a:cs typeface="Aptos Serif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33541809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4AD05-516B-E458-4495-8ACF267B4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4B97548-F547-3B32-AACE-C9F29910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Business Problem and Project Objective</a:t>
            </a:r>
          </a:p>
        </p:txBody>
      </p:sp>
    </p:spTree>
    <p:extLst>
      <p:ext uri="{BB962C8B-B14F-4D97-AF65-F5344CB8AC3E}">
        <p14:creationId xmlns:p14="http://schemas.microsoft.com/office/powerpoint/2010/main" val="173474500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F3A52-B397-90D9-28FF-C251BE0F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3AD20B-8E19-F59E-26B2-1AD64AF09B1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 vert="horz" lIns="0" tIns="0" rIns="0" bIns="0" rtlCol="0" anchor="t">
            <a:noAutofit/>
          </a:bodyPr>
          <a:lstStyle/>
          <a:p>
            <a:r>
              <a:rPr lang="en-US" dirty="0">
                <a:solidFill>
                  <a:srgbClr val="313131"/>
                </a:solidFill>
                <a:ea typeface="+mn-lt"/>
                <a:cs typeface="Aptos Serif"/>
              </a:rPr>
              <a:t>Overview of Problem Statements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A9B309-E894-CCE9-8A6D-505D82D13698}"/>
              </a:ext>
            </a:extLst>
          </p:cNvPr>
          <p:cNvSpPr txBox="1"/>
          <p:nvPr/>
        </p:nvSpPr>
        <p:spPr>
          <a:xfrm>
            <a:off x="460072" y="1461005"/>
            <a:ext cx="5067352" cy="28161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SzPct val="100000"/>
            </a:pPr>
            <a:r>
              <a:rPr lang="en-US" sz="2000" b="1" dirty="0">
                <a:solidFill>
                  <a:srgbClr val="313131"/>
                </a:solidFill>
                <a:latin typeface="+mj-lt"/>
                <a:ea typeface="+mn-lt"/>
                <a:cs typeface="+mn-lt"/>
              </a:rPr>
              <a:t>Business Problem</a:t>
            </a:r>
            <a:endParaRPr lang="en-US" sz="2000" b="1" dirty="0">
              <a:solidFill>
                <a:srgbClr val="313131"/>
              </a:solidFill>
              <a:latin typeface="+mj-lt"/>
            </a:endParaRPr>
          </a:p>
          <a:p>
            <a:endParaRPr lang="en-US" sz="2000" b="1" dirty="0">
              <a:solidFill>
                <a:srgbClr val="313131"/>
              </a:solidFill>
              <a:latin typeface="+mj-lt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313131"/>
                </a:solidFill>
                <a:latin typeface="+mj-lt"/>
                <a:ea typeface="+mn-lt"/>
                <a:cs typeface="+mn-lt"/>
              </a:rPr>
              <a:t> XYZ Insurance wants to identify policyholders who are likely to file an insurance claim in the next six months.</a:t>
            </a:r>
            <a:endParaRPr lang="en-US" sz="2000" dirty="0">
              <a:latin typeface="+mj-lt"/>
            </a:endParaRPr>
          </a:p>
          <a:p>
            <a:endParaRPr lang="en-US" sz="2000" dirty="0">
              <a:solidFill>
                <a:srgbClr val="313131"/>
              </a:solidFill>
              <a:latin typeface="+mj-lt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313131"/>
                </a:solidFill>
                <a:latin typeface="+mj-lt"/>
                <a:ea typeface="+mn-lt"/>
                <a:cs typeface="+mn-lt"/>
              </a:rPr>
              <a:t> Relevant information is spread across policy, car, and insurance claim datasets.</a:t>
            </a:r>
            <a:endParaRPr lang="en-US" sz="2000" dirty="0">
              <a:latin typeface="+mj-lt"/>
            </a:endParaRPr>
          </a:p>
          <a:p>
            <a:pPr marL="203200" indent="-203200" algn="l">
              <a:spcBef>
                <a:spcPts val="600"/>
              </a:spcBef>
              <a:buSzPct val="100000"/>
              <a:buFont typeface="Arial"/>
              <a:buChar char="•"/>
            </a:pPr>
            <a:endParaRPr lang="en-US" dirty="0">
              <a:solidFill>
                <a:srgbClr val="313131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B50733-F31A-AD28-36C1-85978C848231}"/>
              </a:ext>
            </a:extLst>
          </p:cNvPr>
          <p:cNvSpPr txBox="1"/>
          <p:nvPr/>
        </p:nvSpPr>
        <p:spPr>
          <a:xfrm>
            <a:off x="6124564" y="1457907"/>
            <a:ext cx="5193424" cy="31239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SzPct val="100000"/>
            </a:pPr>
            <a:r>
              <a:rPr lang="en-US" sz="2000" b="1" dirty="0">
                <a:solidFill>
                  <a:srgbClr val="313131"/>
                </a:solidFill>
                <a:latin typeface="+mj-lt"/>
                <a:ea typeface="+mn-lt"/>
                <a:cs typeface="+mn-lt"/>
              </a:rPr>
              <a:t>Objective of Checkpoint 1</a:t>
            </a:r>
            <a:endParaRPr lang="en-US" sz="2000" dirty="0">
              <a:solidFill>
                <a:srgbClr val="313131"/>
              </a:solidFill>
              <a:latin typeface="+mj-lt"/>
            </a:endParaRPr>
          </a:p>
          <a:p>
            <a:endParaRPr lang="en-US" sz="2000" b="1" dirty="0">
              <a:solidFill>
                <a:srgbClr val="313131"/>
              </a:solidFill>
              <a:latin typeface="+mj-lt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313131"/>
                </a:solidFill>
                <a:latin typeface="+mj-lt"/>
                <a:ea typeface="+mn-lt"/>
                <a:cs typeface="+mn-lt"/>
              </a:rPr>
              <a:t>Analyze the datasets using Python.</a:t>
            </a:r>
            <a:endParaRPr lang="en-US" sz="2000" dirty="0">
              <a:latin typeface="+mj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313131"/>
                </a:solidFill>
                <a:latin typeface="+mj-lt"/>
                <a:ea typeface="+mn-lt"/>
                <a:cs typeface="+mn-lt"/>
              </a:rPr>
              <a:t>Identify patterns between policy/car features and claim status.</a:t>
            </a:r>
            <a:endParaRPr lang="en-US" sz="2000" dirty="0">
              <a:latin typeface="+mj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313131"/>
                </a:solidFill>
                <a:latin typeface="+mj-lt"/>
                <a:ea typeface="+mn-lt"/>
                <a:cs typeface="+mn-lt"/>
              </a:rPr>
              <a:t>Design an ER diagram and create related Oracle database tables.</a:t>
            </a:r>
            <a:endParaRPr lang="en-US" sz="2000" dirty="0">
              <a:latin typeface="+mj-lt"/>
            </a:endParaRPr>
          </a:p>
          <a:p>
            <a:pPr>
              <a:buFont typeface="Arial"/>
              <a:buChar char="•"/>
            </a:pPr>
            <a:r>
              <a:rPr lang="en-US" sz="2000" dirty="0">
                <a:solidFill>
                  <a:srgbClr val="313131"/>
                </a:solidFill>
                <a:latin typeface="+mj-lt"/>
                <a:ea typeface="+mn-lt"/>
                <a:cs typeface="+mn-lt"/>
              </a:rPr>
              <a:t>Use SQL queries to generate business-relevant insights.</a:t>
            </a:r>
            <a:endParaRPr lang="en-US" sz="2000" dirty="0">
              <a:latin typeface="+mj-lt"/>
            </a:endParaRPr>
          </a:p>
          <a:p>
            <a:pPr marL="203200" indent="-203200" algn="l">
              <a:spcBef>
                <a:spcPts val="600"/>
              </a:spcBef>
              <a:buSzPct val="100000"/>
              <a:buFont typeface="Arial"/>
              <a:buChar char="•"/>
            </a:pPr>
            <a:endParaRPr lang="en-US" dirty="0">
              <a:solidFill>
                <a:srgbClr val="31313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B5FF5F-7C96-7199-385E-481D43C6EAE3}"/>
              </a:ext>
            </a:extLst>
          </p:cNvPr>
          <p:cNvSpPr txBox="1"/>
          <p:nvPr/>
        </p:nvSpPr>
        <p:spPr>
          <a:xfrm>
            <a:off x="865949" y="5074809"/>
            <a:ext cx="10450283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sz="2400" dirty="0">
                <a:solidFill>
                  <a:srgbClr val="313131"/>
                </a:solidFill>
                <a:latin typeface="+mj-lt"/>
                <a:ea typeface="+mn-lt"/>
                <a:cs typeface="+mn-lt"/>
              </a:rPr>
              <a:t>The goal is to convert raw insurance data into actionable insights that support risk segmentation and future claim prediction.</a:t>
            </a:r>
            <a:endParaRPr lang="en-US" sz="2400" dirty="0">
              <a:solidFill>
                <a:srgbClr val="31313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284952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CC2D0-6F45-60F9-63BE-01F692F8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C46EC7A-01A4-CC0F-ED36-EB2BE133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13131"/>
                </a:solidFill>
                <a:ea typeface="+mn-lt"/>
                <a:cs typeface="Aptos Serif"/>
              </a:rPr>
              <a:t>Task 1.1. Data Analysis </a:t>
            </a:r>
          </a:p>
        </p:txBody>
      </p:sp>
    </p:spTree>
    <p:extLst>
      <p:ext uri="{BB962C8B-B14F-4D97-AF65-F5344CB8AC3E}">
        <p14:creationId xmlns:p14="http://schemas.microsoft.com/office/powerpoint/2010/main" val="218059965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CF834-7079-002D-4973-FCBE76137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E9D21D-C321-5A95-2EBF-D66B390A9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Data Analysis: Dataset Overview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D77E78A-FD42-8F39-BBBB-931CE735072E}"/>
              </a:ext>
            </a:extLst>
          </p:cNvPr>
          <p:cNvGrpSpPr/>
          <p:nvPr/>
        </p:nvGrpSpPr>
        <p:grpSpPr>
          <a:xfrm>
            <a:off x="563841" y="946975"/>
            <a:ext cx="5388740" cy="2585934"/>
            <a:chOff x="1349496" y="1890024"/>
            <a:chExt cx="5768049" cy="24298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EF4DD34-23DA-5CCB-4854-DC5F97586C92}"/>
                </a:ext>
              </a:extLst>
            </p:cNvPr>
            <p:cNvSpPr/>
            <p:nvPr/>
          </p:nvSpPr>
          <p:spPr bwMode="gray">
            <a:xfrm>
              <a:off x="3079870" y="3040730"/>
              <a:ext cx="2190095" cy="1279114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D1:Insurance Claim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6964D3C-BF96-263D-BA59-0D57C054E706}"/>
                </a:ext>
              </a:extLst>
            </p:cNvPr>
            <p:cNvSpPr/>
            <p:nvPr/>
          </p:nvSpPr>
          <p:spPr bwMode="gray">
            <a:xfrm>
              <a:off x="1349496" y="1890025"/>
              <a:ext cx="2190096" cy="1279113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D2: Car Features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F2C2AF8-9AC7-6887-2691-D5FC32E768FA}"/>
                </a:ext>
              </a:extLst>
            </p:cNvPr>
            <p:cNvSpPr/>
            <p:nvPr/>
          </p:nvSpPr>
          <p:spPr bwMode="gray">
            <a:xfrm>
              <a:off x="4810244" y="1890024"/>
              <a:ext cx="2307301" cy="1279114"/>
            </a:xfrm>
            <a:prstGeom prst="ellipse">
              <a:avLst/>
            </a:prstGeom>
            <a:solidFill>
              <a:schemeClr val="accent3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600" b="1" dirty="0">
                  <a:solidFill>
                    <a:schemeClr val="bg1"/>
                  </a:solidFill>
                </a:rPr>
                <a:t>D3: Policy Features</a:t>
              </a: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E34A51AE-26E1-6194-4332-98E663289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37" y="3759346"/>
            <a:ext cx="4457779" cy="2877710"/>
          </a:xfrm>
          <a:prstGeom prst="rect">
            <a:avLst/>
          </a:prstGeom>
          <a:ln>
            <a:solidFill>
              <a:srgbClr val="009A44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EDA691-F40A-6C93-B457-40E493E598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976" y="4108108"/>
            <a:ext cx="6449819" cy="2479084"/>
          </a:xfrm>
          <a:prstGeom prst="rect">
            <a:avLst/>
          </a:prstGeom>
          <a:ln>
            <a:solidFill>
              <a:srgbClr val="009A44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D7F571C-2D3B-3773-117A-22C91A07E9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7628" y="561748"/>
            <a:ext cx="5114124" cy="3323843"/>
          </a:xfrm>
          <a:prstGeom prst="rect">
            <a:avLst/>
          </a:prstGeom>
          <a:ln>
            <a:solidFill>
              <a:srgbClr val="009A44"/>
            </a:solidFill>
          </a:ln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983913-D18F-B12E-C84F-4B103EF4EA0D}"/>
              </a:ext>
            </a:extLst>
          </p:cNvPr>
          <p:cNvCxnSpPr>
            <a:stCxn id="11" idx="6"/>
            <a:endCxn id="25" idx="1"/>
          </p:cNvCxnSpPr>
          <p:nvPr/>
        </p:nvCxnSpPr>
        <p:spPr>
          <a:xfrm flipV="1">
            <a:off x="4226499" y="2223670"/>
            <a:ext cx="2391129" cy="6285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1C2C40-1B6A-E13D-68FD-C427C7E8BF27}"/>
              </a:ext>
            </a:extLst>
          </p:cNvPr>
          <p:cNvCxnSpPr>
            <a:stCxn id="11" idx="5"/>
          </p:cNvCxnSpPr>
          <p:nvPr/>
        </p:nvCxnSpPr>
        <p:spPr>
          <a:xfrm>
            <a:off x="3926858" y="3333552"/>
            <a:ext cx="2446233" cy="7745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95FAA34-CF0E-ED8E-3565-CAE9E52EEBB9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1510145" y="3333552"/>
            <a:ext cx="969921" cy="425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03354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4E8BF-2CEF-9AED-E949-9503C90AD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4CD52601-D850-867F-29A9-3FF4828E8D65}"/>
              </a:ext>
            </a:extLst>
          </p:cNvPr>
          <p:cNvGrpSpPr/>
          <p:nvPr/>
        </p:nvGrpSpPr>
        <p:grpSpPr>
          <a:xfrm>
            <a:off x="482091" y="924151"/>
            <a:ext cx="4791691" cy="5680480"/>
            <a:chOff x="7720147" y="422513"/>
            <a:chExt cx="4791691" cy="568048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DC39F53-68B3-BE3C-9065-4B6DE7331939}"/>
                </a:ext>
              </a:extLst>
            </p:cNvPr>
            <p:cNvGrpSpPr/>
            <p:nvPr/>
          </p:nvGrpSpPr>
          <p:grpSpPr>
            <a:xfrm>
              <a:off x="7720147" y="422513"/>
              <a:ext cx="4791691" cy="3189173"/>
              <a:chOff x="516032" y="1232137"/>
              <a:chExt cx="5030962" cy="3189173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56530F69-55FD-EBA8-9533-D11278ED1D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6032" y="1232137"/>
                <a:ext cx="5030962" cy="3189173"/>
              </a:xfrm>
              <a:prstGeom prst="rect">
                <a:avLst/>
              </a:prstGeom>
              <a:ln>
                <a:solidFill>
                  <a:srgbClr val="009A44"/>
                </a:solidFill>
              </a:ln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760597-610F-B0D7-6509-E366A58F8B38}"/>
                  </a:ext>
                </a:extLst>
              </p:cNvPr>
              <p:cNvSpPr txBox="1"/>
              <p:nvPr/>
            </p:nvSpPr>
            <p:spPr>
              <a:xfrm>
                <a:off x="3535789" y="2391939"/>
                <a:ext cx="145667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spcBef>
                    <a:spcPts val="600"/>
                  </a:spcBef>
                  <a:buSzPct val="100000"/>
                </a:pPr>
                <a:r>
                  <a:rPr lang="en-US" dirty="0">
                    <a:solidFill>
                      <a:srgbClr val="313131"/>
                    </a:solidFill>
                  </a:rPr>
                  <a:t>Imbalanced Dataset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B29014E-8CB9-70D4-7EB7-CEAD99BDCD08}"/>
                </a:ext>
              </a:extLst>
            </p:cNvPr>
            <p:cNvGrpSpPr/>
            <p:nvPr/>
          </p:nvGrpSpPr>
          <p:grpSpPr>
            <a:xfrm>
              <a:off x="7735237" y="3752438"/>
              <a:ext cx="4585576" cy="2350555"/>
              <a:chOff x="8431768" y="1075923"/>
              <a:chExt cx="4585576" cy="235055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965B2CB-229B-D593-DE76-6F2708D118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431768" y="1075923"/>
                <a:ext cx="2361766" cy="2350555"/>
              </a:xfrm>
              <a:prstGeom prst="rect">
                <a:avLst/>
              </a:prstGeom>
              <a:ln>
                <a:solidFill>
                  <a:srgbClr val="009A44"/>
                </a:solidFill>
              </a:ln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6D85DA1-AFA6-8930-D9E7-B562750AA759}"/>
                  </a:ext>
                </a:extLst>
              </p:cNvPr>
              <p:cNvSpPr txBox="1"/>
              <p:nvPr/>
            </p:nvSpPr>
            <p:spPr>
              <a:xfrm>
                <a:off x="10923309" y="2121391"/>
                <a:ext cx="20940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buSzPct val="100000"/>
                </a:pPr>
                <a:r>
                  <a:rPr lang="en-US" dirty="0">
                    <a:solidFill>
                      <a:srgbClr val="313131"/>
                    </a:solidFill>
                  </a:rPr>
                  <a:t>No Duplicates Found</a:t>
                </a: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3B25A3F-1134-E448-242E-5D82B529CFFE}"/>
              </a:ext>
            </a:extLst>
          </p:cNvPr>
          <p:cNvGrpSpPr/>
          <p:nvPr/>
        </p:nvGrpSpPr>
        <p:grpSpPr>
          <a:xfrm>
            <a:off x="5486400" y="904664"/>
            <a:ext cx="6245352" cy="5607343"/>
            <a:chOff x="554182" y="1184533"/>
            <a:chExt cx="6333808" cy="4927978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C4A0741-CB0C-4315-C01E-FDA007D8FC86}"/>
                </a:ext>
              </a:extLst>
            </p:cNvPr>
            <p:cNvGrpSpPr/>
            <p:nvPr/>
          </p:nvGrpSpPr>
          <p:grpSpPr>
            <a:xfrm>
              <a:off x="554182" y="1184533"/>
              <a:ext cx="6333807" cy="4927978"/>
              <a:chOff x="457200" y="788723"/>
              <a:chExt cx="6333807" cy="4927978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BA3FFCF0-FBC3-DCDB-384E-AAF9D79925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78414" y="788723"/>
                <a:ext cx="3612593" cy="1270954"/>
              </a:xfrm>
              <a:prstGeom prst="rect">
                <a:avLst/>
              </a:prstGeom>
              <a:ln>
                <a:solidFill>
                  <a:srgbClr val="009A44"/>
                </a:solidFill>
              </a:ln>
            </p:spPr>
          </p:pic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328095DA-1215-C5A4-4BE3-9000EC2A04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200" y="788723"/>
                <a:ext cx="2094035" cy="4920982"/>
              </a:xfrm>
              <a:prstGeom prst="rect">
                <a:avLst/>
              </a:prstGeom>
              <a:ln>
                <a:solidFill>
                  <a:srgbClr val="009A44"/>
                </a:solidFill>
              </a:ln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0D6F4B9E-7833-BFFB-895C-11B4787FB3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8413" y="3797772"/>
                <a:ext cx="3612593" cy="1918929"/>
              </a:xfrm>
              <a:prstGeom prst="rect">
                <a:avLst/>
              </a:prstGeom>
              <a:ln>
                <a:solidFill>
                  <a:srgbClr val="009A44"/>
                </a:solidFill>
              </a:ln>
            </p:spPr>
          </p:pic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07206A8-B1EE-121F-93C4-27B1C9CEA26B}"/>
                  </a:ext>
                </a:extLst>
              </p:cNvPr>
              <p:cNvSpPr txBox="1"/>
              <p:nvPr/>
            </p:nvSpPr>
            <p:spPr>
              <a:xfrm>
                <a:off x="3738465" y="2312011"/>
                <a:ext cx="2405168" cy="12068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spcBef>
                    <a:spcPts val="600"/>
                  </a:spcBef>
                  <a:buSzPct val="100000"/>
                </a:pPr>
                <a:r>
                  <a:rPr lang="en-US" sz="1400" dirty="0"/>
                  <a:t>Null Values in each dataset</a:t>
                </a:r>
              </a:p>
              <a:p>
                <a:pPr marL="342900" indent="-342900">
                  <a:spcBef>
                    <a:spcPts val="600"/>
                  </a:spcBef>
                  <a:buSzPct val="100000"/>
                  <a:buFont typeface="+mj-lt"/>
                  <a:buAutoNum type="arabicPeriod"/>
                </a:pPr>
                <a:r>
                  <a:rPr lang="en-US" sz="1400" dirty="0"/>
                  <a:t>D1: Insurance Claim</a:t>
                </a:r>
              </a:p>
              <a:p>
                <a:pPr marL="342900" indent="-342900">
                  <a:spcBef>
                    <a:spcPts val="600"/>
                  </a:spcBef>
                  <a:buSzPct val="100000"/>
                  <a:buFont typeface="+mj-lt"/>
                  <a:buAutoNum type="arabicPeriod"/>
                </a:pPr>
                <a:r>
                  <a:rPr lang="en-US" sz="1400" dirty="0"/>
                  <a:t>D2: D2: Car Features</a:t>
                </a:r>
              </a:p>
              <a:p>
                <a:pPr marL="342900" indent="-342900">
                  <a:spcBef>
                    <a:spcPts val="600"/>
                  </a:spcBef>
                  <a:buSzPct val="100000"/>
                  <a:buFont typeface="+mj-lt"/>
                  <a:buAutoNum type="arabicPeriod"/>
                </a:pPr>
                <a:r>
                  <a:rPr lang="en-US" sz="1400" dirty="0"/>
                  <a:t>D3: Policy Features</a:t>
                </a:r>
              </a:p>
            </p:txBody>
          </p:sp>
        </p:grp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1BB9F7DA-44F1-AEEF-6BBB-EEA9085C771A}"/>
                </a:ext>
              </a:extLst>
            </p:cNvPr>
            <p:cNvCxnSpPr>
              <a:cxnSpLocks/>
              <a:endCxn id="17" idx="3"/>
            </p:cNvCxnSpPr>
            <p:nvPr/>
          </p:nvCxnSpPr>
          <p:spPr>
            <a:xfrm rot="5400000" flipH="1" flipV="1">
              <a:off x="5844978" y="2195724"/>
              <a:ext cx="1418725" cy="667298"/>
            </a:xfrm>
            <a:prstGeom prst="bentConnector4">
              <a:avLst>
                <a:gd name="adj1" fmla="val 261"/>
                <a:gd name="adj2" fmla="val 134258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1" name="Connector: Elbow 40">
              <a:extLst>
                <a:ext uri="{FF2B5EF4-FFF2-40B4-BE49-F238E27FC236}">
                  <a16:creationId xmlns:a16="http://schemas.microsoft.com/office/drawing/2014/main" id="{32215F59-8E85-C8EE-1E7F-5CC591B8F633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648218" y="3100236"/>
              <a:ext cx="1118529" cy="401878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D272E8B0-D8D8-42DD-2807-5749B7E98EF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2890823" y="4262326"/>
              <a:ext cx="1329191" cy="560054"/>
            </a:xfrm>
            <a:prstGeom prst="bentConnector4">
              <a:avLst>
                <a:gd name="adj1" fmla="val 358"/>
                <a:gd name="adj2" fmla="val 140817"/>
              </a:avLst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57" name="Title 2">
            <a:extLst>
              <a:ext uri="{FF2B5EF4-FFF2-40B4-BE49-F238E27FC236}">
                <a16:creationId xmlns:a16="http://schemas.microsoft.com/office/drawing/2014/main" id="{4F6688A9-517F-C08E-6F90-49D398F4B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5992"/>
            <a:ext cx="11274552" cy="342000"/>
          </a:xfrm>
        </p:spPr>
        <p:txBody>
          <a:bodyPr/>
          <a:lstStyle/>
          <a:p>
            <a:r>
              <a:rPr lang="en-US" sz="2800" dirty="0"/>
              <a:t>Data Analysis: Dataset Balancing &amp; Duplicates Analysis</a:t>
            </a:r>
          </a:p>
        </p:txBody>
      </p:sp>
    </p:spTree>
    <p:extLst>
      <p:ext uri="{BB962C8B-B14F-4D97-AF65-F5344CB8AC3E}">
        <p14:creationId xmlns:p14="http://schemas.microsoft.com/office/powerpoint/2010/main" val="760072776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DF80F-D5BE-7C8A-2E9C-E95D73326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15E415-C961-0DBD-DC74-2E4709DF0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021" y="1135782"/>
            <a:ext cx="5348809" cy="4586436"/>
          </a:xfrm>
          <a:prstGeom prst="rect">
            <a:avLst/>
          </a:prstGeom>
          <a:ln>
            <a:solidFill>
              <a:srgbClr val="009A44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DC484E-49E8-970C-7EEB-459A04BC5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0172" y="1135781"/>
            <a:ext cx="5069204" cy="4586435"/>
          </a:xfrm>
          <a:prstGeom prst="rect">
            <a:avLst/>
          </a:prstGeom>
          <a:ln>
            <a:solidFill>
              <a:srgbClr val="009A44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F599DC-97BD-EA2E-8965-E0BFE174279B}"/>
              </a:ext>
            </a:extLst>
          </p:cNvPr>
          <p:cNvSpPr txBox="1"/>
          <p:nvPr/>
        </p:nvSpPr>
        <p:spPr>
          <a:xfrm>
            <a:off x="2151858" y="6031505"/>
            <a:ext cx="788523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dirty="0">
                <a:solidFill>
                  <a:srgbClr val="313131"/>
                </a:solidFill>
              </a:rPr>
              <a:t>No significant Linear Correlation found among “Policy Claim” and other features</a:t>
            </a:r>
          </a:p>
        </p:txBody>
      </p:sp>
      <p:sp>
        <p:nvSpPr>
          <p:cNvPr id="16" name="Title 2">
            <a:extLst>
              <a:ext uri="{FF2B5EF4-FFF2-40B4-BE49-F238E27FC236}">
                <a16:creationId xmlns:a16="http://schemas.microsoft.com/office/drawing/2014/main" id="{17728172-85DA-9962-EAFF-AAD507214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5992"/>
            <a:ext cx="11274552" cy="342000"/>
          </a:xfrm>
        </p:spPr>
        <p:txBody>
          <a:bodyPr/>
          <a:lstStyle/>
          <a:p>
            <a:r>
              <a:rPr lang="en-US" sz="2800" dirty="0"/>
              <a:t>Data Analysis: (Pearson Correlation Analysis)</a:t>
            </a:r>
          </a:p>
        </p:txBody>
      </p:sp>
    </p:spTree>
    <p:extLst>
      <p:ext uri="{BB962C8B-B14F-4D97-AF65-F5344CB8AC3E}">
        <p14:creationId xmlns:p14="http://schemas.microsoft.com/office/powerpoint/2010/main" val="255249335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3D160-EC35-03B0-445B-BB12C84D4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7DBDBFE-832E-F396-F875-62704C0B5FF7}"/>
              </a:ext>
            </a:extLst>
          </p:cNvPr>
          <p:cNvSpPr txBox="1"/>
          <p:nvPr/>
        </p:nvSpPr>
        <p:spPr>
          <a:xfrm>
            <a:off x="1771626" y="6031505"/>
            <a:ext cx="864570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dirty="0">
                <a:solidFill>
                  <a:srgbClr val="313131"/>
                </a:solidFill>
              </a:rPr>
              <a:t>No significant monotonic relationship exists between “Policy Claiming” &amp; other features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66D3E9-8619-F4F2-051A-C36B76510B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470" y="835271"/>
            <a:ext cx="8326012" cy="5048955"/>
          </a:xfrm>
          <a:prstGeom prst="rect">
            <a:avLst/>
          </a:prstGeom>
          <a:ln>
            <a:solidFill>
              <a:srgbClr val="009A44"/>
            </a:solidFill>
          </a:ln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610B8E57-4082-094F-5A2E-91599953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5992"/>
            <a:ext cx="11274552" cy="342000"/>
          </a:xfrm>
        </p:spPr>
        <p:txBody>
          <a:bodyPr/>
          <a:lstStyle/>
          <a:p>
            <a:r>
              <a:rPr lang="en-US" sz="2800" dirty="0"/>
              <a:t>Data Analysis contd. (Spearman Correlation Analysis)</a:t>
            </a:r>
          </a:p>
        </p:txBody>
      </p:sp>
    </p:spTree>
    <p:extLst>
      <p:ext uri="{BB962C8B-B14F-4D97-AF65-F5344CB8AC3E}">
        <p14:creationId xmlns:p14="http://schemas.microsoft.com/office/powerpoint/2010/main" val="265692918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6C9523-948F-7D95-C1E4-0C54EB202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15EE630-A9D3-B545-B197-E222B163D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201" y="1023166"/>
            <a:ext cx="5305552" cy="2943196"/>
          </a:xfrm>
          <a:prstGeom prst="rect">
            <a:avLst/>
          </a:prstGeom>
          <a:ln>
            <a:solidFill>
              <a:srgbClr val="009A44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F4C18DE-CF2E-4C48-0F7C-AD27C8162269}"/>
              </a:ext>
            </a:extLst>
          </p:cNvPr>
          <p:cNvGrpSpPr/>
          <p:nvPr/>
        </p:nvGrpSpPr>
        <p:grpSpPr>
          <a:xfrm>
            <a:off x="511610" y="1023166"/>
            <a:ext cx="5582866" cy="2943196"/>
            <a:chOff x="511610" y="1820001"/>
            <a:chExt cx="5582866" cy="294319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B4863BE-0147-22F1-5172-7FEC74C1BB44}"/>
                </a:ext>
              </a:extLst>
            </p:cNvPr>
            <p:cNvSpPr txBox="1"/>
            <p:nvPr/>
          </p:nvSpPr>
          <p:spPr>
            <a:xfrm>
              <a:off x="511610" y="1820001"/>
              <a:ext cx="544328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spcBef>
                  <a:spcPts val="600"/>
                </a:spcBef>
                <a:buSzPct val="100000"/>
              </a:pPr>
              <a:r>
                <a:rPr lang="en-US" dirty="0">
                  <a:solidFill>
                    <a:srgbClr val="313131"/>
                  </a:solidFill>
                </a:rPr>
                <a:t>Categorical Features showing above average claim rate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D2256FD-4927-0BFD-9C90-A66FF39367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1610" y="2200359"/>
              <a:ext cx="5582866" cy="2562838"/>
            </a:xfrm>
            <a:prstGeom prst="rect">
              <a:avLst/>
            </a:prstGeom>
            <a:ln>
              <a:solidFill>
                <a:srgbClr val="009A44"/>
              </a:solidFill>
            </a:ln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5EA2153-37EB-82DB-BFA4-B7093F701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646559"/>
            <a:ext cx="8276779" cy="1393203"/>
          </a:xfrm>
          <a:prstGeom prst="rect">
            <a:avLst/>
          </a:prstGeom>
          <a:ln>
            <a:solidFill>
              <a:srgbClr val="009A44"/>
            </a:solidFill>
          </a:ln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DAF7F053-197C-8222-7C99-856C5C540B66}"/>
              </a:ext>
            </a:extLst>
          </p:cNvPr>
          <p:cNvSpPr/>
          <p:nvPr/>
        </p:nvSpPr>
        <p:spPr bwMode="gray">
          <a:xfrm>
            <a:off x="9344284" y="4269397"/>
            <a:ext cx="2387468" cy="1770365"/>
          </a:xfrm>
          <a:prstGeom prst="ellipse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600" b="1" dirty="0">
                <a:solidFill>
                  <a:schemeClr val="bg1"/>
                </a:solidFill>
              </a:rPr>
              <a:t>Avg. Insurance Claim Rate = 6.4%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B89CE1-BBAA-C81B-4D12-42C8DF51BA85}"/>
              </a:ext>
            </a:extLst>
          </p:cNvPr>
          <p:cNvSpPr txBox="1"/>
          <p:nvPr/>
        </p:nvSpPr>
        <p:spPr>
          <a:xfrm>
            <a:off x="457200" y="4280660"/>
            <a:ext cx="544328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Bef>
                <a:spcPts val="600"/>
              </a:spcBef>
              <a:buSzPct val="100000"/>
            </a:pPr>
            <a:r>
              <a:rPr lang="en-US" dirty="0">
                <a:solidFill>
                  <a:srgbClr val="313131"/>
                </a:solidFill>
              </a:rPr>
              <a:t>Numerical Features showing above average claim rate</a:t>
            </a:r>
          </a:p>
        </p:txBody>
      </p:sp>
      <p:sp>
        <p:nvSpPr>
          <p:cNvPr id="20" name="Title 2">
            <a:extLst>
              <a:ext uri="{FF2B5EF4-FFF2-40B4-BE49-F238E27FC236}">
                <a16:creationId xmlns:a16="http://schemas.microsoft.com/office/drawing/2014/main" id="{EC643A31-2AB5-3E2C-6235-3743B3106216}"/>
              </a:ext>
            </a:extLst>
          </p:cNvPr>
          <p:cNvSpPr txBox="1">
            <a:spLocks/>
          </p:cNvSpPr>
          <p:nvPr/>
        </p:nvSpPr>
        <p:spPr bwMode="gray">
          <a:xfrm>
            <a:off x="0" y="1469263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685800" rtl="0" eaLnBrk="1" latinLnBrk="0" hangingPunct="1">
              <a:spcBef>
                <a:spcPts val="0"/>
              </a:spcBef>
              <a:spcAft>
                <a:spcPts val="0"/>
              </a:spcAft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endParaRPr lang="en-US" sz="2800" dirty="0"/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8681C644-5383-30C7-1309-93DB086B0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5992"/>
            <a:ext cx="11274552" cy="342000"/>
          </a:xfrm>
        </p:spPr>
        <p:txBody>
          <a:bodyPr/>
          <a:lstStyle/>
          <a:p>
            <a:r>
              <a:rPr lang="en-US" sz="2800" dirty="0"/>
              <a:t>Data Analysis contd. (Claim Rate Analysis)</a:t>
            </a:r>
          </a:p>
        </p:txBody>
      </p:sp>
    </p:spTree>
    <p:extLst>
      <p:ext uri="{BB962C8B-B14F-4D97-AF65-F5344CB8AC3E}">
        <p14:creationId xmlns:p14="http://schemas.microsoft.com/office/powerpoint/2010/main" val="357022478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B5F0A-6E09-E4EA-1C6C-22364847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82B6DE1-58A5-1222-FC29-AA76ABD42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313131"/>
                </a:solidFill>
                <a:ea typeface="+mn-lt"/>
                <a:cs typeface="Aptos Serif"/>
              </a:rPr>
              <a:t>Task 1.2. ER Diagram and Oracle Database Design</a:t>
            </a:r>
          </a:p>
        </p:txBody>
      </p:sp>
    </p:spTree>
    <p:extLst>
      <p:ext uri="{BB962C8B-B14F-4D97-AF65-F5344CB8AC3E}">
        <p14:creationId xmlns:p14="http://schemas.microsoft.com/office/powerpoint/2010/main" val="358365107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7F9A396-3D34-B151-5992-1A49AE30E4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23" y="212051"/>
            <a:ext cx="11285729" cy="757255"/>
          </a:xfrm>
        </p:spPr>
        <p:txBody>
          <a:bodyPr/>
          <a:lstStyle/>
          <a:p>
            <a:r>
              <a:rPr lang="en-US" sz="2800" dirty="0">
                <a:solidFill>
                  <a:srgbClr val="313131"/>
                </a:solidFill>
                <a:ea typeface="+mn-lt"/>
                <a:cs typeface="Aptos Serif"/>
              </a:rPr>
              <a:t>ER Diagram and Oracle Database Design: </a:t>
            </a:r>
            <a:r>
              <a:rPr lang="en-US" sz="2800" dirty="0"/>
              <a:t>E-R Diagram </a:t>
            </a:r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39761214-F864-B57F-99C3-7A3DBB9D090E}"/>
              </a:ext>
            </a:extLst>
          </p:cNvPr>
          <p:cNvSpPr/>
          <p:nvPr/>
        </p:nvSpPr>
        <p:spPr bwMode="gray">
          <a:xfrm>
            <a:off x="2373086" y="4845598"/>
            <a:ext cx="2171205" cy="1201387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sz="1600" b="1">
                <a:solidFill>
                  <a:schemeClr val="bg1"/>
                </a:solidFill>
              </a:rPr>
              <a:t>Car Features</a:t>
            </a:r>
            <a:endParaRPr lang="en-US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B786A0A8-D603-2565-3288-8B6A4FB3A7DD}"/>
              </a:ext>
            </a:extLst>
          </p:cNvPr>
          <p:cNvSpPr/>
          <p:nvPr/>
        </p:nvSpPr>
        <p:spPr bwMode="gray">
          <a:xfrm>
            <a:off x="5015346" y="715486"/>
            <a:ext cx="2171205" cy="1201387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sz="1600" b="1" err="1">
                <a:solidFill>
                  <a:schemeClr val="bg1"/>
                </a:solidFill>
              </a:rPr>
              <a:t>Policy_features</a:t>
            </a: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6E877B2E-DADA-24C1-AEDF-5753A99AA5BC}"/>
              </a:ext>
            </a:extLst>
          </p:cNvPr>
          <p:cNvSpPr/>
          <p:nvPr/>
        </p:nvSpPr>
        <p:spPr bwMode="gray">
          <a:xfrm>
            <a:off x="8103616" y="4845597"/>
            <a:ext cx="2171205" cy="1201387"/>
          </a:xfrm>
          <a:prstGeom prst="rect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</a:pPr>
            <a:r>
              <a:rPr lang="en-US" sz="1600" b="1" err="1">
                <a:solidFill>
                  <a:schemeClr val="bg1"/>
                </a:solidFill>
              </a:rPr>
              <a:t>Insurance_claim</a:t>
            </a:r>
          </a:p>
        </p:txBody>
      </p:sp>
      <p:sp>
        <p:nvSpPr>
          <p:cNvPr id="503" name="Diamond 502">
            <a:extLst>
              <a:ext uri="{FF2B5EF4-FFF2-40B4-BE49-F238E27FC236}">
                <a16:creationId xmlns:a16="http://schemas.microsoft.com/office/drawing/2014/main" id="{666C7873-AC93-DEE8-4B1D-844D0A948CE7}"/>
              </a:ext>
            </a:extLst>
          </p:cNvPr>
          <p:cNvSpPr/>
          <p:nvPr/>
        </p:nvSpPr>
        <p:spPr bwMode="gray">
          <a:xfrm>
            <a:off x="2325805" y="2307524"/>
            <a:ext cx="2270163" cy="1844632"/>
          </a:xfrm>
          <a:prstGeom prst="diamond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600" b="1">
                <a:solidFill>
                  <a:schemeClr val="bg1"/>
                </a:solidFill>
              </a:rPr>
              <a:t>Describes</a:t>
            </a:r>
          </a:p>
        </p:txBody>
      </p:sp>
      <p:sp>
        <p:nvSpPr>
          <p:cNvPr id="504" name="Diamond 503">
            <a:extLst>
              <a:ext uri="{FF2B5EF4-FFF2-40B4-BE49-F238E27FC236}">
                <a16:creationId xmlns:a16="http://schemas.microsoft.com/office/drawing/2014/main" id="{AA36F0AC-C479-935C-B364-DE93AFF83E77}"/>
              </a:ext>
            </a:extLst>
          </p:cNvPr>
          <p:cNvSpPr/>
          <p:nvPr/>
        </p:nvSpPr>
        <p:spPr bwMode="gray">
          <a:xfrm>
            <a:off x="8101691" y="2406484"/>
            <a:ext cx="2161307" cy="1646711"/>
          </a:xfrm>
          <a:prstGeom prst="diamond">
            <a:avLst/>
          </a:prstGeom>
          <a:solidFill>
            <a:schemeClr val="accent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1600" b="1">
                <a:solidFill>
                  <a:schemeClr val="bg1"/>
                </a:solidFill>
              </a:rPr>
              <a:t>Has</a:t>
            </a:r>
          </a:p>
        </p:txBody>
      </p:sp>
      <p:cxnSp>
        <p:nvCxnSpPr>
          <p:cNvPr id="506" name="Straight Arrow Connector 505">
            <a:extLst>
              <a:ext uri="{FF2B5EF4-FFF2-40B4-BE49-F238E27FC236}">
                <a16:creationId xmlns:a16="http://schemas.microsoft.com/office/drawing/2014/main" id="{E0D6EBB0-E8E6-612B-50B8-9218611CA5C3}"/>
              </a:ext>
            </a:extLst>
          </p:cNvPr>
          <p:cNvCxnSpPr/>
          <p:nvPr/>
        </p:nvCxnSpPr>
        <p:spPr>
          <a:xfrm>
            <a:off x="6101444" y="1979715"/>
            <a:ext cx="3061853" cy="3800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7" name="Straight Arrow Connector 506">
            <a:extLst>
              <a:ext uri="{FF2B5EF4-FFF2-40B4-BE49-F238E27FC236}">
                <a16:creationId xmlns:a16="http://schemas.microsoft.com/office/drawing/2014/main" id="{9ED74C97-5363-ED3F-A01A-F9970E0F2181}"/>
              </a:ext>
            </a:extLst>
          </p:cNvPr>
          <p:cNvCxnSpPr/>
          <p:nvPr/>
        </p:nvCxnSpPr>
        <p:spPr>
          <a:xfrm flipH="1">
            <a:off x="3427887" y="1984044"/>
            <a:ext cx="2727366" cy="3602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Straight Arrow Connector 508">
            <a:extLst>
              <a:ext uri="{FF2B5EF4-FFF2-40B4-BE49-F238E27FC236}">
                <a16:creationId xmlns:a16="http://schemas.microsoft.com/office/drawing/2014/main" id="{8BB43A7D-87D5-9DA5-EEBC-1E95692D00D8}"/>
              </a:ext>
            </a:extLst>
          </p:cNvPr>
          <p:cNvCxnSpPr/>
          <p:nvPr/>
        </p:nvCxnSpPr>
        <p:spPr>
          <a:xfrm>
            <a:off x="9172328" y="4090678"/>
            <a:ext cx="23751" cy="756063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D78CEBB2-BA48-BD7A-2DC2-EBE991CDC416}"/>
              </a:ext>
            </a:extLst>
          </p:cNvPr>
          <p:cNvCxnSpPr/>
          <p:nvPr/>
        </p:nvCxnSpPr>
        <p:spPr>
          <a:xfrm>
            <a:off x="3448049" y="4157133"/>
            <a:ext cx="25401" cy="73448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3898972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F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8DD228-6B8F-914C-C867-C53925F83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8C2D0C-9CAD-2C53-0E71-AFECD9CBA525}"/>
              </a:ext>
            </a:extLst>
          </p:cNvPr>
          <p:cNvSpPr txBox="1"/>
          <p:nvPr/>
        </p:nvSpPr>
        <p:spPr>
          <a:xfrm>
            <a:off x="644011" y="1358738"/>
            <a:ext cx="4572000" cy="2302508"/>
          </a:xfrm>
          <a:prstGeom prst="rect">
            <a:avLst/>
          </a:prstGeom>
          <a:solidFill>
            <a:schemeClr val="accent6"/>
          </a:solidFill>
          <a:ln>
            <a:solidFill>
              <a:srgbClr val="43B02A"/>
            </a:solidFill>
          </a:ln>
        </p:spPr>
        <p:txBody>
          <a:bodyPr wrap="square" lIns="180000" tIns="180000" rIns="180000" bIns="180000" rtlCol="0" anchor="ctr">
            <a:spAutoFit/>
          </a:bodyPr>
          <a:lstStyle/>
          <a:p>
            <a:pPr algn="ctr"/>
            <a:r>
              <a:rPr lang="en-US" b="1" dirty="0" err="1"/>
              <a:t>policy_features</a:t>
            </a:r>
            <a:endParaRPr lang="en-US" b="1" dirty="0"/>
          </a:p>
          <a:p>
            <a:r>
              <a:rPr lang="en-US" dirty="0"/>
              <a:t>primary key :- </a:t>
            </a:r>
            <a:r>
              <a:rPr lang="en-US" dirty="0" err="1"/>
              <a:t>policy_id</a:t>
            </a:r>
            <a:endParaRPr lang="en-US" dirty="0"/>
          </a:p>
          <a:p>
            <a:r>
              <a:rPr lang="en-US" dirty="0"/>
              <a:t>Check  constraints</a:t>
            </a:r>
            <a:br>
              <a:rPr lang="en-US" dirty="0"/>
            </a:br>
            <a:r>
              <a:rPr lang="en-US" dirty="0" err="1"/>
              <a:t>policy_tenure</a:t>
            </a:r>
            <a:r>
              <a:rPr lang="en-US" dirty="0"/>
              <a:t> &gt;= 0</a:t>
            </a:r>
            <a:br>
              <a:rPr lang="en-US" dirty="0"/>
            </a:br>
            <a:r>
              <a:rPr lang="en-US" dirty="0" err="1"/>
              <a:t>age_of_car</a:t>
            </a:r>
            <a:r>
              <a:rPr lang="en-US" dirty="0"/>
              <a:t> &gt;= 0</a:t>
            </a:r>
            <a:br>
              <a:rPr lang="en-US" dirty="0"/>
            </a:br>
            <a:r>
              <a:rPr lang="en-US" dirty="0" err="1"/>
              <a:t>age_of_policyholder</a:t>
            </a:r>
            <a:r>
              <a:rPr lang="en-US" dirty="0"/>
              <a:t> &gt;= 0</a:t>
            </a:r>
            <a:br>
              <a:rPr lang="en-US" dirty="0"/>
            </a:br>
            <a:r>
              <a:rPr lang="en-US" dirty="0" err="1"/>
              <a:t>population_density</a:t>
            </a:r>
            <a:r>
              <a:rPr lang="en-US" dirty="0"/>
              <a:t> &gt;= 0</a:t>
            </a:r>
            <a:endParaRPr lang="en-US" dirty="0">
              <a:solidFill>
                <a:srgbClr val="31313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F45C1F-B50C-D0F2-C2F3-A0BC06EA8053}"/>
              </a:ext>
            </a:extLst>
          </p:cNvPr>
          <p:cNvSpPr txBox="1"/>
          <p:nvPr/>
        </p:nvSpPr>
        <p:spPr>
          <a:xfrm>
            <a:off x="629264" y="314632"/>
            <a:ext cx="1156273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>
                <a:solidFill>
                  <a:srgbClr val="313131"/>
                </a:solidFill>
                <a:latin typeface="+mj-lt"/>
                <a:ea typeface="+mn-lt"/>
                <a:cs typeface="Aptos Serif"/>
              </a:rPr>
              <a:t>ER Diagram and Oracle Database Design</a:t>
            </a:r>
            <a:r>
              <a:rPr lang="en-US" sz="2800" dirty="0">
                <a:latin typeface="+mj-lt"/>
                <a:cs typeface="Calibri Light"/>
              </a:rPr>
              <a:t>: Characteristics</a:t>
            </a:r>
            <a:r>
              <a:rPr lang="en-US" sz="2800" dirty="0">
                <a:solidFill>
                  <a:srgbClr val="313131"/>
                </a:solidFill>
                <a:latin typeface="+mj-lt"/>
              </a:rPr>
              <a:t> of Relations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E3B800-1442-00F8-F552-90C04E629050}"/>
              </a:ext>
            </a:extLst>
          </p:cNvPr>
          <p:cNvSpPr txBox="1"/>
          <p:nvPr/>
        </p:nvSpPr>
        <p:spPr>
          <a:xfrm>
            <a:off x="644011" y="4267550"/>
            <a:ext cx="4572000" cy="2025509"/>
          </a:xfrm>
          <a:prstGeom prst="rect">
            <a:avLst/>
          </a:prstGeom>
          <a:solidFill>
            <a:schemeClr val="accent6"/>
          </a:solidFill>
          <a:ln>
            <a:solidFill>
              <a:srgbClr val="43B02A"/>
            </a:solidFill>
          </a:ln>
        </p:spPr>
        <p:txBody>
          <a:bodyPr wrap="square" lIns="180000" tIns="180000" rIns="180000" bIns="180000" rtlCol="0" anchor="ctr">
            <a:spAutoFit/>
          </a:bodyPr>
          <a:lstStyle/>
          <a:p>
            <a:pPr algn="ctr"/>
            <a:r>
              <a:rPr lang="en-US" b="1" dirty="0" err="1"/>
              <a:t>insurance_claim</a:t>
            </a:r>
            <a:endParaRPr lang="en-US" b="1" dirty="0"/>
          </a:p>
          <a:p>
            <a:r>
              <a:rPr lang="en-US" dirty="0"/>
              <a:t>PRIMARY KEY :- </a:t>
            </a:r>
            <a:r>
              <a:rPr lang="en-US" dirty="0" err="1"/>
              <a:t>policy_id</a:t>
            </a:r>
            <a:br>
              <a:rPr lang="en-US" dirty="0"/>
            </a:br>
            <a:r>
              <a:rPr lang="en-US" dirty="0"/>
              <a:t>FOREIGN KEY </a:t>
            </a:r>
            <a:r>
              <a:rPr lang="en-US" dirty="0" err="1"/>
              <a:t>policy_id</a:t>
            </a:r>
            <a:r>
              <a:rPr lang="en-US" dirty="0"/>
              <a:t>   REFERENCES </a:t>
            </a:r>
            <a:r>
              <a:rPr lang="en-US" dirty="0" err="1"/>
              <a:t>policy_features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CHECK </a:t>
            </a:r>
          </a:p>
          <a:p>
            <a:r>
              <a:rPr lang="en-US" dirty="0" err="1"/>
              <a:t>is_claim</a:t>
            </a:r>
            <a:r>
              <a:rPr lang="en-US" dirty="0"/>
              <a:t> IN (0, 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2B4AB0-AC17-1CE7-B9D4-3C00661F3706}"/>
              </a:ext>
            </a:extLst>
          </p:cNvPr>
          <p:cNvSpPr txBox="1"/>
          <p:nvPr/>
        </p:nvSpPr>
        <p:spPr>
          <a:xfrm>
            <a:off x="6783319" y="4544549"/>
            <a:ext cx="4572000" cy="1748510"/>
          </a:xfrm>
          <a:prstGeom prst="rect">
            <a:avLst/>
          </a:prstGeom>
          <a:solidFill>
            <a:schemeClr val="accent6"/>
          </a:solidFill>
          <a:ln>
            <a:solidFill>
              <a:srgbClr val="43B02A"/>
            </a:solidFill>
          </a:ln>
        </p:spPr>
        <p:txBody>
          <a:bodyPr wrap="square" lIns="180000" tIns="180000" rIns="180000" bIns="180000" rtlCol="0" anchor="ctr">
            <a:spAutoFit/>
          </a:bodyPr>
          <a:lstStyle/>
          <a:p>
            <a:pPr algn="ctr"/>
            <a:r>
              <a:rPr lang="en-US" b="1" dirty="0"/>
              <a:t>Cardinality</a:t>
            </a:r>
            <a:r>
              <a:rPr lang="en-US" dirty="0"/>
              <a:t> 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CARFEATURES N -1 POLICY_FEATURES </a:t>
            </a:r>
          </a:p>
          <a:p>
            <a:r>
              <a:rPr lang="en-US" dirty="0"/>
              <a:t>POLICY_FEATURES 1 -N INSURANCE_CLAIM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FC740C-A131-569C-4C52-87BA6BD71734}"/>
              </a:ext>
            </a:extLst>
          </p:cNvPr>
          <p:cNvSpPr txBox="1"/>
          <p:nvPr/>
        </p:nvSpPr>
        <p:spPr>
          <a:xfrm>
            <a:off x="6783319" y="1358738"/>
            <a:ext cx="4572000" cy="2856506"/>
          </a:xfrm>
          <a:prstGeom prst="rect">
            <a:avLst/>
          </a:prstGeom>
          <a:solidFill>
            <a:schemeClr val="accent6"/>
          </a:solidFill>
          <a:ln>
            <a:solidFill>
              <a:srgbClr val="43B02A"/>
            </a:solidFill>
          </a:ln>
        </p:spPr>
        <p:txBody>
          <a:bodyPr wrap="square" lIns="180000" tIns="180000" rIns="180000" bIns="180000" rtlCol="0" anchor="ctr">
            <a:spAutoFit/>
          </a:bodyPr>
          <a:lstStyle/>
          <a:p>
            <a:pPr algn="ctr"/>
            <a:r>
              <a:rPr lang="en-US" b="1" dirty="0" err="1"/>
              <a:t>Car_features</a:t>
            </a:r>
            <a:r>
              <a:rPr lang="en-US" b="1" dirty="0"/>
              <a:t> </a:t>
            </a:r>
            <a:endParaRPr lang="en-US" dirty="0"/>
          </a:p>
          <a:p>
            <a:r>
              <a:rPr lang="en-US" dirty="0"/>
              <a:t>Primary Key :- </a:t>
            </a:r>
            <a:r>
              <a:rPr lang="en-US" dirty="0" err="1"/>
              <a:t>policy_id</a:t>
            </a:r>
            <a:br>
              <a:rPr lang="en-US" dirty="0"/>
            </a:br>
            <a:r>
              <a:rPr lang="en-US" dirty="0"/>
              <a:t>FOREIGN KEY :- </a:t>
            </a:r>
            <a:r>
              <a:rPr lang="en-US" dirty="0" err="1"/>
              <a:t>policy_id</a:t>
            </a:r>
            <a:r>
              <a:rPr lang="en-US" dirty="0"/>
              <a:t> REFERENCES </a:t>
            </a:r>
            <a:r>
              <a:rPr lang="en-US" dirty="0" err="1"/>
              <a:t>policy_features</a:t>
            </a:r>
            <a:endParaRPr lang="en-US" dirty="0"/>
          </a:p>
          <a:p>
            <a:br>
              <a:rPr lang="en-US" dirty="0"/>
            </a:br>
            <a:r>
              <a:rPr lang="en-US" dirty="0"/>
              <a:t>Check Constraints</a:t>
            </a:r>
          </a:p>
          <a:p>
            <a:r>
              <a:rPr lang="en-US" dirty="0"/>
              <a:t>airbags &gt;= 0</a:t>
            </a:r>
            <a:br>
              <a:rPr lang="en-US" dirty="0"/>
            </a:br>
            <a:r>
              <a:rPr lang="en-US" dirty="0" err="1"/>
              <a:t>gross_weight</a:t>
            </a:r>
            <a:r>
              <a:rPr lang="en-US" dirty="0"/>
              <a:t> &gt; 0</a:t>
            </a:r>
            <a:br>
              <a:rPr lang="en-US" dirty="0"/>
            </a:br>
            <a:r>
              <a:rPr lang="en-US" dirty="0" err="1"/>
              <a:t>ncap_rating</a:t>
            </a:r>
            <a:r>
              <a:rPr lang="en-US" dirty="0"/>
              <a:t> BETWEEN 0 AND 5</a:t>
            </a:r>
            <a:endParaRPr lang="en-US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13027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F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2097DC-7809-8762-14BE-28765D8091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35974"/>
            <a:ext cx="12008734" cy="629265"/>
          </a:xfrm>
        </p:spPr>
        <p:txBody>
          <a:bodyPr/>
          <a:lstStyle/>
          <a:p>
            <a:r>
              <a:rPr lang="en-US" sz="2800" dirty="0">
                <a:solidFill>
                  <a:srgbClr val="313131"/>
                </a:solidFill>
                <a:ea typeface="+mn-lt"/>
                <a:cs typeface="Aptos Serif"/>
              </a:rPr>
              <a:t>ER Diagram and Oracle Database Design: </a:t>
            </a:r>
            <a:r>
              <a:rPr lang="en-US" sz="2800" dirty="0"/>
              <a:t>Schema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7DE52C1-B325-DB15-B10E-E305FF6894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2553" y="1056397"/>
            <a:ext cx="10489868" cy="5209986"/>
          </a:xfrm>
          <a:prstGeom prst="rect">
            <a:avLst/>
          </a:prstGeom>
          <a:ln>
            <a:solidFill>
              <a:srgbClr val="009A44"/>
            </a:solidFill>
          </a:ln>
        </p:spPr>
      </p:pic>
    </p:spTree>
    <p:extLst>
      <p:ext uri="{BB962C8B-B14F-4D97-AF65-F5344CB8AC3E}">
        <p14:creationId xmlns:p14="http://schemas.microsoft.com/office/powerpoint/2010/main" val="16947173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5692A5-BF99-A5DB-963D-09C486C6B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070" y="504330"/>
            <a:ext cx="5871280" cy="846701"/>
          </a:xfrm>
        </p:spPr>
        <p:txBody>
          <a:bodyPr/>
          <a:lstStyle/>
          <a:p>
            <a:r>
              <a:rPr lang="en-IN" sz="2400" b="1">
                <a:latin typeface="Aptos"/>
                <a:cs typeface="Times New Roman"/>
              </a:rPr>
              <a:t>Average Population Density by Claim Status and Area Cluster</a:t>
            </a:r>
            <a:endParaRPr lang="en-US" sz="2400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34F8C4-69E9-6E09-E9B2-04723D2EB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49" y="1604962"/>
            <a:ext cx="7689644" cy="48850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432569-FFAB-264E-03CA-224BC1C68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950" y="2007795"/>
            <a:ext cx="2657475" cy="2228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6ACD19-5BA9-50E8-D190-074CE16E17B2}"/>
              </a:ext>
            </a:extLst>
          </p:cNvPr>
          <p:cNvSpPr txBox="1"/>
          <p:nvPr/>
        </p:nvSpPr>
        <p:spPr>
          <a:xfrm>
            <a:off x="8603115" y="589055"/>
            <a:ext cx="299644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600"/>
              </a:spcBef>
            </a:pPr>
            <a:r>
              <a:rPr lang="en-IN" sz="2400" b="1">
                <a:solidFill>
                  <a:srgbClr val="000000"/>
                </a:solidFill>
                <a:ea typeface="+mn-lt"/>
                <a:cs typeface="+mn-lt"/>
              </a:rPr>
              <a:t>Car Segments with 100+ Policies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545698536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EAFB5-09E6-D237-0991-1733D7B7F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1CE3E5E-E46D-1FCB-4193-A9333F5B4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551" y="316834"/>
            <a:ext cx="11274552" cy="5343026"/>
          </a:xfrm>
        </p:spPr>
        <p:txBody>
          <a:bodyPr/>
          <a:lstStyle/>
          <a:p>
            <a:br>
              <a:rPr lang="en-US" sz="2000" dirty="0">
                <a:latin typeface="Aptos"/>
                <a:ea typeface="+mn-lt"/>
                <a:cs typeface="Aptos Serif"/>
              </a:rPr>
            </a:br>
            <a:r>
              <a:rPr lang="en-US" sz="3200" dirty="0">
                <a:latin typeface="Aptos"/>
                <a:ea typeface="Open Sans"/>
                <a:cs typeface="Open Sans"/>
              </a:rPr>
              <a:t>Conclusion &amp; Key Takeaways</a:t>
            </a:r>
            <a:br>
              <a:rPr lang="en-US" sz="3200" dirty="0">
                <a:latin typeface="Aptos"/>
                <a:ea typeface="Open Sans"/>
                <a:cs typeface="Open Sans"/>
              </a:rPr>
            </a:br>
            <a:br>
              <a:rPr lang="en-US" sz="2800" dirty="0">
                <a:latin typeface="Aptos"/>
                <a:ea typeface="Open Sans"/>
                <a:cs typeface="Open Sans"/>
              </a:rPr>
            </a:br>
            <a:endParaRPr lang="en-US" sz="2000" dirty="0">
              <a:solidFill>
                <a:srgbClr val="313131"/>
              </a:solidFill>
              <a:latin typeface="Aptos"/>
              <a:ea typeface="Open Sans"/>
              <a:cs typeface="Open Sans"/>
            </a:endParaRPr>
          </a:p>
          <a:p>
            <a:r>
              <a:rPr lang="en-US" sz="2400" b="0" dirty="0">
                <a:latin typeface="Aptos"/>
                <a:ea typeface="+mn-lt"/>
                <a:cs typeface="Aptos Serif"/>
              </a:rPr>
              <a:t> The dataset contains </a:t>
            </a:r>
            <a:r>
              <a:rPr lang="en-US" sz="2400" dirty="0">
                <a:latin typeface="Aptos"/>
                <a:ea typeface="+mn-lt"/>
                <a:cs typeface="Aptos Serif"/>
              </a:rPr>
              <a:t>58,515 policy records</a:t>
            </a:r>
            <a:r>
              <a:rPr lang="en-US" sz="2400" b="0" dirty="0">
                <a:latin typeface="Aptos"/>
                <a:ea typeface="+mn-lt"/>
                <a:cs typeface="Aptos Serif"/>
              </a:rPr>
              <a:t> with a common </a:t>
            </a:r>
            <a:r>
              <a:rPr lang="en-US" sz="2400" b="0" dirty="0" err="1">
                <a:latin typeface="Aptos"/>
                <a:ea typeface="+mn-lt"/>
                <a:cs typeface="Aptos Serif"/>
              </a:rPr>
              <a:t>policy_id</a:t>
            </a:r>
            <a:r>
              <a:rPr lang="en-US" sz="2400" b="0" dirty="0">
                <a:latin typeface="Aptos"/>
                <a:ea typeface="+mn-lt"/>
                <a:cs typeface="Aptos Serif"/>
              </a:rPr>
              <a:t>.</a:t>
            </a:r>
            <a:br>
              <a:rPr lang="en-US" sz="2400" b="0" dirty="0">
                <a:latin typeface="Aptos"/>
                <a:ea typeface="+mn-lt"/>
                <a:cs typeface="Aptos Serif"/>
              </a:rPr>
            </a:br>
            <a:r>
              <a:rPr lang="en-US" sz="2400" b="0" dirty="0">
                <a:latin typeface="Aptos"/>
                <a:ea typeface="+mn-lt"/>
                <a:cs typeface="Aptos Serif"/>
              </a:rPr>
              <a:t> No duplicate policy IDs were identified.</a:t>
            </a:r>
            <a:br>
              <a:rPr lang="en-US" sz="2400" b="0" dirty="0">
                <a:latin typeface="Aptos"/>
                <a:ea typeface="+mn-lt"/>
                <a:cs typeface="Aptos Serif"/>
              </a:rPr>
            </a:br>
            <a:r>
              <a:rPr lang="en-US" sz="2400" b="0" dirty="0">
                <a:latin typeface="Aptos"/>
                <a:ea typeface="+mn-lt"/>
                <a:cs typeface="Aptos Serif"/>
              </a:rPr>
              <a:t>The overall claim rate is approximately </a:t>
            </a:r>
            <a:r>
              <a:rPr lang="en-US" sz="2400" dirty="0">
                <a:latin typeface="Aptos"/>
                <a:ea typeface="+mn-lt"/>
                <a:cs typeface="Aptos Serif"/>
              </a:rPr>
              <a:t>6.4%</a:t>
            </a:r>
            <a:br>
              <a:rPr lang="en-US" sz="2400" b="0" dirty="0">
                <a:latin typeface="Aptos"/>
                <a:ea typeface="+mn-lt"/>
                <a:cs typeface="Aptos Serif"/>
              </a:rPr>
            </a:br>
            <a:r>
              <a:rPr lang="en-US" sz="2400" b="0" dirty="0">
                <a:latin typeface="Aptos"/>
                <a:ea typeface="+mn-lt"/>
                <a:cs typeface="Aptos Serif"/>
              </a:rPr>
              <a:t>Designed a relational database linking </a:t>
            </a:r>
            <a:r>
              <a:rPr lang="en-US" sz="2400" dirty="0">
                <a:latin typeface="Aptos"/>
                <a:ea typeface="+mn-lt"/>
                <a:cs typeface="Aptos Serif"/>
              </a:rPr>
              <a:t>policy, car, and insurance claim data</a:t>
            </a:r>
            <a:r>
              <a:rPr lang="en-US" sz="2400" b="0" dirty="0">
                <a:latin typeface="Aptos"/>
                <a:ea typeface="+mn-lt"/>
                <a:cs typeface="Aptos Serif"/>
              </a:rPr>
              <a:t> through the common </a:t>
            </a:r>
            <a:r>
              <a:rPr lang="en-US" sz="2400" b="0" dirty="0" err="1">
                <a:latin typeface="Aptos"/>
                <a:ea typeface="+mn-lt"/>
                <a:cs typeface="Aptos Serif"/>
              </a:rPr>
              <a:t>policy_id</a:t>
            </a:r>
            <a:r>
              <a:rPr lang="en-US" sz="2400" b="0" dirty="0">
                <a:latin typeface="Aptos"/>
                <a:ea typeface="+mn-lt"/>
                <a:cs typeface="Aptos Serif"/>
              </a:rPr>
              <a:t>.</a:t>
            </a:r>
            <a:endParaRPr lang="en-US" sz="2400" dirty="0">
              <a:latin typeface="Aptos"/>
            </a:endParaRPr>
          </a:p>
          <a:p>
            <a:r>
              <a:rPr lang="en-US" sz="2400" b="0" dirty="0">
                <a:latin typeface="Aptos"/>
                <a:ea typeface="+mn-lt"/>
                <a:cs typeface="Aptos Serif"/>
              </a:rPr>
              <a:t>Created the ER model, Oracle tables, relationships, and data-loading process required for the project.</a:t>
            </a:r>
            <a:endParaRPr lang="en-US" sz="2400" dirty="0">
              <a:latin typeface="Aptos"/>
            </a:endParaRPr>
          </a:p>
          <a:p>
            <a:r>
              <a:rPr lang="en-US" sz="2400" b="0" dirty="0">
                <a:latin typeface="Aptos"/>
                <a:ea typeface="+mn-lt"/>
                <a:cs typeface="Aptos Serif"/>
              </a:rPr>
              <a:t>Developed SQL queries to analyze </a:t>
            </a:r>
            <a:r>
              <a:rPr lang="en-US" sz="2400" dirty="0">
                <a:latin typeface="Aptos"/>
                <a:ea typeface="+mn-lt"/>
                <a:cs typeface="Aptos Serif"/>
              </a:rPr>
              <a:t>claim patterns, population density, vehicle safety, car segments, policy tenure, and car age categories</a:t>
            </a:r>
            <a:r>
              <a:rPr lang="en-US" sz="2400" b="0" dirty="0">
                <a:latin typeface="Aptos"/>
                <a:ea typeface="+mn-lt"/>
                <a:cs typeface="Aptos Serif"/>
              </a:rPr>
              <a:t>.</a:t>
            </a:r>
            <a:endParaRPr lang="en-US" sz="2400" dirty="0">
              <a:latin typeface="Aptos"/>
            </a:endParaRPr>
          </a:p>
          <a:p>
            <a:endParaRPr lang="en-US" sz="2400" dirty="0">
              <a:ea typeface="+mn-lt"/>
              <a:cs typeface="Aptos Serif"/>
            </a:endParaRPr>
          </a:p>
        </p:txBody>
      </p:sp>
    </p:spTree>
    <p:extLst>
      <p:ext uri="{BB962C8B-B14F-4D97-AF65-F5344CB8AC3E}">
        <p14:creationId xmlns:p14="http://schemas.microsoft.com/office/powerpoint/2010/main" val="352489387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22E82-BBBA-2C88-51CC-CD31DADFB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0">
            <a:extLst>
              <a:ext uri="{FF2B5EF4-FFF2-40B4-BE49-F238E27FC236}">
                <a16:creationId xmlns:a16="http://schemas.microsoft.com/office/drawing/2014/main" id="{38A4B849-4FB8-1B82-5C27-F2A953B64EF5}"/>
              </a:ext>
            </a:extLst>
          </p:cNvPr>
          <p:cNvSpPr txBox="1">
            <a:spLocks/>
          </p:cNvSpPr>
          <p:nvPr/>
        </p:nvSpPr>
        <p:spPr>
          <a:xfrm>
            <a:off x="4098471" y="3184922"/>
            <a:ext cx="3995057" cy="691356"/>
          </a:xfrm>
          <a:prstGeom prst="rect">
            <a:avLst/>
          </a:prstGeom>
        </p:spPr>
        <p:txBody>
          <a:bodyPr anchor="ctr"/>
          <a:lstStyle>
            <a:lvl1pPr algn="l" defTabSz="68580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pPr algn="ctr"/>
            <a:r>
              <a:rPr lang="en-US" sz="6000" dirty="0">
                <a:solidFill>
                  <a:schemeClr val="bg1"/>
                </a:solidFill>
                <a:ea typeface="+mn-lt"/>
                <a:cs typeface="Aptos Serif"/>
              </a:rPr>
              <a:t>Thank You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58AEA2E4-94DA-03BD-C8FF-1E4F48E84537}"/>
              </a:ext>
            </a:extLst>
          </p:cNvPr>
          <p:cNvSpPr txBox="1">
            <a:spLocks/>
          </p:cNvSpPr>
          <p:nvPr/>
        </p:nvSpPr>
        <p:spPr>
          <a:xfrm>
            <a:off x="246743" y="5151608"/>
            <a:ext cx="3947885" cy="1546735"/>
          </a:xfrm>
          <a:prstGeom prst="rect">
            <a:avLst/>
          </a:prstGeom>
        </p:spPr>
        <p:txBody>
          <a:bodyPr anchor="ctr"/>
          <a:lstStyle>
            <a:lvl1pPr algn="l" defTabSz="685800" rtl="0" eaLnBrk="1" latinLnBrk="0" hangingPunct="1">
              <a:spcBef>
                <a:spcPct val="0"/>
              </a:spcBef>
              <a:buNone/>
              <a:defRPr sz="2100" kern="1200">
                <a:solidFill>
                  <a:schemeClr val="tx1"/>
                </a:solidFill>
                <a:latin typeface="Aptos" panose="020B0004020202020204" pitchFamily="34" charset="0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 sz="1800" dirty="0">
                <a:solidFill>
                  <a:schemeClr val="bg1"/>
                </a:solidFill>
                <a:ea typeface="+mn-lt"/>
                <a:cs typeface="Aptos Serif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pikumar6@deloitte.com</a:t>
            </a:r>
            <a:endParaRPr lang="en-US" sz="1800" dirty="0">
              <a:solidFill>
                <a:schemeClr val="bg1"/>
              </a:solidFill>
              <a:ea typeface="+mn-lt"/>
              <a:cs typeface="Aptos Serif"/>
            </a:endParaRPr>
          </a:p>
          <a:p>
            <a:r>
              <a:rPr lang="en-US" sz="1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mgurjar@deloitte.com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asmaharana@deloitte.com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vibanala@deloitte.com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vnithyasaisandarshin@deloitte.com</a:t>
            </a:r>
            <a:endParaRPr lang="en-US" sz="1800" dirty="0">
              <a:solidFill>
                <a:schemeClr val="bg1"/>
              </a:solidFill>
              <a:ea typeface="+mn-lt"/>
              <a:cs typeface="Aptos Serif"/>
            </a:endParaRPr>
          </a:p>
        </p:txBody>
      </p:sp>
    </p:spTree>
    <p:extLst>
      <p:ext uri="{BB962C8B-B14F-4D97-AF65-F5344CB8AC3E}">
        <p14:creationId xmlns:p14="http://schemas.microsoft.com/office/powerpoint/2010/main" val="145526604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Brand_Theme">
  <a:themeElements>
    <a:clrScheme name="Custom 1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26890D"/>
      </a:hlink>
      <a:folHlink>
        <a:srgbClr val="7F7F7F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5">
      <a:srgbClr val="009A44"/>
    </a:custClr>
    <a:custClr name="Green 4">
      <a:srgbClr val="43B02A"/>
    </a:custClr>
    <a:custClr name="Green 2">
      <a:srgbClr val="C4D600"/>
    </a:custClr>
    <a:custClr name="Green 1">
      <a:srgbClr val="E3E48D"/>
    </a:custClr>
    <a:custClr name="Teal 8">
      <a:srgbClr val="0D8390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8">
      <a:srgbClr val="007CB0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Bright Teal">
      <a:srgbClr val="3EFAC5"/>
    </a:custClr>
    <a:custClr name="Bright Blue">
      <a:srgbClr val="33F0FF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_Brand_Theme" id="{917CC780-C041-4F84-B057-DE63A8CDEF25}" vid="{5A16EDA9-025E-49B0-B403-896FAE83D1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C0B5E8C28FBB4DB6BB6E6547CA8A70" ma:contentTypeVersion="14" ma:contentTypeDescription="Create a new document." ma:contentTypeScope="" ma:versionID="4c6617896dbd6066d418e5883b6ed562">
  <xsd:schema xmlns:xsd="http://www.w3.org/2001/XMLSchema" xmlns:xs="http://www.w3.org/2001/XMLSchema" xmlns:p="http://schemas.microsoft.com/office/2006/metadata/properties" xmlns:ns3="8f1e2369-70da-40d7-b978-99d0855b91b8" xmlns:ns4="8ee28f6f-733e-446a-845c-015b8614e1f7" targetNamespace="http://schemas.microsoft.com/office/2006/metadata/properties" ma:root="true" ma:fieldsID="7beb73ffafaeb73ea273bd43962ac528" ns3:_="" ns4:_="">
    <xsd:import namespace="8f1e2369-70da-40d7-b978-99d0855b91b8"/>
    <xsd:import namespace="8ee28f6f-733e-446a-845c-015b8614e1f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1e2369-70da-40d7-b978-99d0855b91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e28f6f-733e-446a-845c-015b8614e1f7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0B2FCBC-AEA4-4167-AEBB-3951BFAB5452}">
  <ds:schemaRefs>
    <ds:schemaRef ds:uri="8ee28f6f-733e-446a-845c-015b8614e1f7"/>
    <ds:schemaRef ds:uri="8f1e2369-70da-40d7-b978-99d0855b91b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6E6CC2D-2343-40C9-BF57-ACB940668A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BF235D-5BAD-4A08-AEE0-5E29BE15689F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8ee28f6f-733e-446a-845c-015b8614e1f7"/>
    <ds:schemaRef ds:uri="8f1e2369-70da-40d7-b978-99d0855b91b8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Deloitte_Brand_Theme_102224</Template>
  <TotalTime>0</TotalTime>
  <Words>1215</Words>
  <Application>Microsoft Office PowerPoint</Application>
  <PresentationFormat>Widescreen</PresentationFormat>
  <Paragraphs>128</Paragraphs>
  <Slides>17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Calibri Light</vt:lpstr>
      <vt:lpstr>Open Sans</vt:lpstr>
      <vt:lpstr>Verdana</vt:lpstr>
      <vt:lpstr>Wingdings 2</vt:lpstr>
      <vt:lpstr>Deloitte_Brand_Theme</vt:lpstr>
      <vt:lpstr>think-cell Slide</vt:lpstr>
      <vt:lpstr>Project : Insurance Industry  Batch Name : Batch A_AWS | P02 (Class: A1)  Checkpoint 1 Presentation  Group Members :   1. Piyush Kumar 2. Muthres Gurjar 3. Ashutosh Maharana 4. Banala Viswa Sahith 5. Nithya Sai Sandarshini Veerla</vt:lpstr>
      <vt:lpstr>PowerPoint Presentation</vt:lpstr>
      <vt:lpstr>Business Problem and Project Objective</vt:lpstr>
      <vt:lpstr>PowerPoint Presentation</vt:lpstr>
      <vt:lpstr>Task 1.1. Data Analysis </vt:lpstr>
      <vt:lpstr>Data Analysis: Dataset Overview</vt:lpstr>
      <vt:lpstr>Data Analysis: Dataset Balancing &amp; Duplicates Analysis</vt:lpstr>
      <vt:lpstr>Data Analysis: (Pearson Correlation Analysis)</vt:lpstr>
      <vt:lpstr>Data Analysis contd. (Spearman Correlation Analysis)</vt:lpstr>
      <vt:lpstr>Data Analysis contd. (Claim Rate Analysis)</vt:lpstr>
      <vt:lpstr>Task 1.2. ER Diagram and Oracle Database Design</vt:lpstr>
      <vt:lpstr>PowerPoint Presentation</vt:lpstr>
      <vt:lpstr>PowerPoint Presentation</vt:lpstr>
      <vt:lpstr>PowerPoint Presentation</vt:lpstr>
      <vt:lpstr>Average Population Density by Claim Status and Area Cluster</vt:lpstr>
      <vt:lpstr> Conclusion &amp; Key Takeaways    The dataset contains 58,515 policy records with a common policy_id.  No duplicate policy IDs were identified. The overall claim rate is approximately 6.4% Designed a relational database linking policy, car, and insurance claim data through the common policy_id. Created the ER model, Oracle tables, relationships, and data-loading process required for the project. Developed SQL queries to analyze claim patterns, population density, vehicle safety, car segments, policy tenure, and car age categories.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16x9 Onscreen PPT</dc:title>
  <dc:creator/>
  <cp:lastModifiedBy/>
  <cp:revision>1</cp:revision>
  <dcterms:created xsi:type="dcterms:W3CDTF">2020-04-09T19:50:51Z</dcterms:created>
  <dcterms:modified xsi:type="dcterms:W3CDTF">2026-08-06T13:11:18Z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2021-04-05T20:58:38Z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9ab57f92-f9f5-4e1c-bb56-f04159416863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0x01010097C0B5E8C28FBB4DB6BB6E6547CA8A70</vt:lpwstr>
  </property>
</Properties>
</file>